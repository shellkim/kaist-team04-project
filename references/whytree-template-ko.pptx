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635000"/>
            <a:ext cx="10566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2A2E"/>
                </a:solidFill>
                <a:latin typeface="Pretendard"/>
              </a:rPr>
              <a:t>WhyTree 템플릿 사용법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460500"/>
            <a:ext cx="8001000" cy="2228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이름이나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별명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날짜</a:t>
            </a:r>
            <a:r>
              <a:rPr lang="ko-KR" altLang="en-US"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먼저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씁니다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나중에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비교할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때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필요합니다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우리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팀이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하는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</a:t>
            </a:r>
            <a:r>
              <a:rPr lang="ko-KR" altLang="en-US"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중에 먼저 생각나는 다섯가지를 씨앗으로 적습니다</a:t>
            </a:r>
            <a:r>
              <a:rPr lang="en-US" altLang="ko-KR"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300" dirty="0">
              <a:solidFill>
                <a:srgbClr val="1F2A2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갈수록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본질적인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목적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(why)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각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일에서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"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?"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물으며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올라갑니다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지금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않지만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새로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찾은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점선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상자로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그립니다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화살표는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how에서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why로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아래에서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향합니다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endParaRPr lang="en-US" sz="1300" dirty="0">
              <a:solidFill>
                <a:srgbClr val="1F2A2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새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화살표는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기존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화살표를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복사한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끝을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상자의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점에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붙입니다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상자에는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가지만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짧은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명사구로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씁니다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"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줄이기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".</a:t>
            </a:r>
          </a:p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how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하나가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여러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why를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도울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때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why는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실선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부가적인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why는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점선으로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연결합니다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선택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대상에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따라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why가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갈라지면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누구를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WhyTree인지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적습니다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98000" y="14605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2A2E"/>
                </a:solidFill>
                <a:latin typeface="Pretendard"/>
              </a:rPr>
              <a:t>상자와 화살표</a:t>
            </a:r>
          </a:p>
        </p:txBody>
      </p:sp>
      <p:sp>
        <p:nvSpPr>
          <p:cNvPr id="5" name="견본: 상자"/>
          <p:cNvSpPr/>
          <p:nvPr/>
        </p:nvSpPr>
        <p:spPr>
          <a:xfrm>
            <a:off x="9398000" y="1771650"/>
            <a:ext cx="1651000" cy="342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100" b="1">
                <a:solidFill>
                  <a:srgbClr val="1F2A2E"/>
                </a:solidFill>
                <a:latin typeface="Pretendard"/>
              </a:rPr>
              <a:t>상자</a:t>
            </a:r>
          </a:p>
        </p:txBody>
      </p:sp>
      <p:sp>
        <p:nvSpPr>
          <p:cNvPr id="6" name="견본: 씨앗"/>
          <p:cNvSpPr/>
          <p:nvPr/>
        </p:nvSpPr>
        <p:spPr>
          <a:xfrm>
            <a:off x="9398000" y="2216150"/>
            <a:ext cx="1651000" cy="342900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100" b="1" dirty="0" err="1">
                <a:solidFill>
                  <a:srgbClr val="1F2A2E"/>
                </a:solidFill>
                <a:latin typeface="Pretendard"/>
              </a:rPr>
              <a:t>씨앗</a:t>
            </a:r>
            <a:r>
              <a:rPr sz="1100" b="1" dirty="0">
                <a:solidFill>
                  <a:srgbClr val="1F2A2E"/>
                </a:solidFill>
                <a:latin typeface="Pretendard"/>
              </a:rPr>
              <a:t> (</a:t>
            </a:r>
            <a:r>
              <a:rPr lang="ko-KR" altLang="en-US" sz="1100" b="1" dirty="0">
                <a:solidFill>
                  <a:srgbClr val="1F2A2E"/>
                </a:solidFill>
                <a:latin typeface="Pretendard"/>
              </a:rPr>
              <a:t>먼저 생각나는 </a:t>
            </a:r>
            <a:r>
              <a:rPr sz="1100" b="1" dirty="0" err="1">
                <a:solidFill>
                  <a:srgbClr val="1F2A2E"/>
                </a:solidFill>
                <a:latin typeface="Pretendard"/>
              </a:rPr>
              <a:t>일</a:t>
            </a:r>
            <a:r>
              <a:rPr sz="1100" b="1" dirty="0">
                <a:solidFill>
                  <a:srgbClr val="1F2A2E"/>
                </a:solidFill>
                <a:latin typeface="Pretendard"/>
              </a:rPr>
              <a:t>)</a:t>
            </a:r>
          </a:p>
        </p:txBody>
      </p:sp>
      <p:sp>
        <p:nvSpPr>
          <p:cNvPr id="7" name="견본: 아직 하지 않는 일 (점선)"/>
          <p:cNvSpPr/>
          <p:nvPr/>
        </p:nvSpPr>
        <p:spPr>
          <a:xfrm>
            <a:off x="9398000" y="2660650"/>
            <a:ext cx="1651000" cy="342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100" b="1">
                <a:solidFill>
                  <a:srgbClr val="1F2A2E"/>
                </a:solidFill>
                <a:latin typeface="Pretendard"/>
              </a:rPr>
              <a:t>아직 하지 않는 일</a:t>
            </a:r>
          </a:p>
        </p:txBody>
      </p:sp>
      <p:sp>
        <p:nvSpPr>
          <p:cNvPr id="8" name="견본: 실선 위"/>
          <p:cNvSpPr/>
          <p:nvPr/>
        </p:nvSpPr>
        <p:spPr>
          <a:xfrm>
            <a:off x="9461500" y="3155950"/>
            <a:ext cx="762000" cy="29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000" b="1">
                <a:solidFill>
                  <a:srgbClr val="1F2A2E"/>
                </a:solidFill>
                <a:latin typeface="Pretendard"/>
              </a:rPr>
              <a:t>why</a:t>
            </a:r>
          </a:p>
        </p:txBody>
      </p:sp>
      <p:sp>
        <p:nvSpPr>
          <p:cNvPr id="9" name="견본: 실선 아래"/>
          <p:cNvSpPr/>
          <p:nvPr/>
        </p:nvSpPr>
        <p:spPr>
          <a:xfrm>
            <a:off x="9461500" y="3727450"/>
            <a:ext cx="762000" cy="29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000" b="1">
                <a:solidFill>
                  <a:srgbClr val="1F2A2E"/>
                </a:solidFill>
                <a:latin typeface="Pretendard"/>
              </a:rPr>
              <a:t>how</a:t>
            </a:r>
          </a:p>
        </p:txBody>
      </p:sp>
      <p:cxnSp>
        <p:nvCxnSpPr>
          <p:cNvPr id="10" name="화살표"/>
          <p:cNvCxnSpPr>
            <a:stCxn id="9" idx="0"/>
            <a:endCxn id="8" idx="2"/>
          </p:cNvCxnSpPr>
          <p:nvPr/>
        </p:nvCxnSpPr>
        <p:spPr>
          <a:xfrm flipH="1" flipV="1">
            <a:off x="9842500" y="3448050"/>
            <a:ext cx="0" cy="2794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견본: 점선 위"/>
          <p:cNvSpPr/>
          <p:nvPr/>
        </p:nvSpPr>
        <p:spPr>
          <a:xfrm>
            <a:off x="10350500" y="3155950"/>
            <a:ext cx="762000" cy="29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000" b="1">
                <a:solidFill>
                  <a:srgbClr val="1F2A2E"/>
                </a:solidFill>
                <a:latin typeface="Pretendard"/>
              </a:rPr>
              <a:t>why</a:t>
            </a:r>
          </a:p>
        </p:txBody>
      </p:sp>
      <p:sp>
        <p:nvSpPr>
          <p:cNvPr id="12" name="견본: 점선 아래"/>
          <p:cNvSpPr/>
          <p:nvPr/>
        </p:nvSpPr>
        <p:spPr>
          <a:xfrm>
            <a:off x="10350500" y="3727450"/>
            <a:ext cx="762000" cy="29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000" b="1">
                <a:solidFill>
                  <a:srgbClr val="1F2A2E"/>
                </a:solidFill>
                <a:latin typeface="Pretendard"/>
              </a:rPr>
              <a:t>how</a:t>
            </a:r>
          </a:p>
        </p:txBody>
      </p:sp>
      <p:cxnSp>
        <p:nvCxnSpPr>
          <p:cNvPr id="13" name="화살표 (점선: 부가적인 why)"/>
          <p:cNvCxnSpPr>
            <a:stCxn id="12" idx="0"/>
            <a:endCxn id="11" idx="2"/>
          </p:cNvCxnSpPr>
          <p:nvPr/>
        </p:nvCxnSpPr>
        <p:spPr>
          <a:xfrm flipH="1" flipV="1">
            <a:off x="10731500" y="3448050"/>
            <a:ext cx="0" cy="279400"/>
          </a:xfrm>
          <a:prstGeom prst="line">
            <a:avLst/>
          </a:prstGeom>
          <a:ln w="22225">
            <a:solidFill>
              <a:srgbClr val="7FA08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398000" y="4076699"/>
            <a:ext cx="2159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4A5568"/>
                </a:solidFill>
                <a:latin typeface="Pretendard"/>
              </a:rPr>
              <a:t>실선: 가장 중요한 why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4A5568"/>
                </a:solidFill>
                <a:latin typeface="Pretendard"/>
              </a:rPr>
              <a:t>점선: 부가적인 why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6400" y="254000"/>
            <a:ext cx="190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F6B4F"/>
                </a:solidFill>
                <a:latin typeface="Pretendard"/>
              </a:rPr>
              <a:t>WhyTree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61249" y="50800"/>
            <a:ext cx="95250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A7179"/>
                </a:solidFill>
                <a:latin typeface="Pretendard"/>
              </a:rPr>
              <a:t>이름 또는 별명</a:t>
            </a:r>
          </a:p>
        </p:txBody>
      </p:sp>
      <p:sp>
        <p:nvSpPr>
          <p:cNvPr id="4" name="입력: 이름 또는 별명"/>
          <p:cNvSpPr/>
          <p:nvPr/>
        </p:nvSpPr>
        <p:spPr>
          <a:xfrm>
            <a:off x="8413749" y="0"/>
            <a:ext cx="1905000" cy="355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F2A2E"/>
                </a:solidFill>
                <a:latin typeface="Pretendard"/>
              </a:rPr>
              <a:t>예시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41171" y="81331"/>
            <a:ext cx="353827" cy="1929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A7179"/>
                </a:solidFill>
                <a:latin typeface="Pretendard"/>
              </a:rPr>
              <a:t>날짜</a:t>
            </a:r>
          </a:p>
        </p:txBody>
      </p:sp>
      <p:sp>
        <p:nvSpPr>
          <p:cNvPr id="6" name="입력: 날짜"/>
          <p:cNvSpPr/>
          <p:nvPr/>
        </p:nvSpPr>
        <p:spPr>
          <a:xfrm>
            <a:off x="10795000" y="0"/>
            <a:ext cx="1397000" cy="355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F2A2E"/>
                </a:solidFill>
                <a:latin typeface="Pretendard"/>
              </a:rPr>
              <a:t>2026-00-00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0" y="952500"/>
            <a:ext cx="571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F6B4F"/>
                </a:solidFill>
                <a:latin typeface="Pretendard"/>
              </a:rPr>
              <a:t>예시: 침대에서 시작한 WhyTree</a:t>
            </a:r>
          </a:p>
        </p:txBody>
      </p:sp>
      <p:sp>
        <p:nvSpPr>
          <p:cNvPr id="10" name="why: 좋은 하루"/>
          <p:cNvSpPr/>
          <p:nvPr/>
        </p:nvSpPr>
        <p:spPr>
          <a:xfrm>
            <a:off x="4889500" y="1841500"/>
            <a:ext cx="1651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300" b="1">
                <a:solidFill>
                  <a:srgbClr val="1F2A2E"/>
                </a:solidFill>
                <a:latin typeface="Pretendard"/>
              </a:rPr>
              <a:t>좋은 하루</a:t>
            </a:r>
          </a:p>
        </p:txBody>
      </p:sp>
      <p:sp>
        <p:nvSpPr>
          <p:cNvPr id="11" name="why: 개운한 몸"/>
          <p:cNvSpPr/>
          <p:nvPr/>
        </p:nvSpPr>
        <p:spPr>
          <a:xfrm>
            <a:off x="3492500" y="2794000"/>
            <a:ext cx="1651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300" b="1">
                <a:solidFill>
                  <a:srgbClr val="1F2A2E"/>
                </a:solidFill>
                <a:latin typeface="Pretendard"/>
              </a:rPr>
              <a:t>개운한 몸</a:t>
            </a:r>
          </a:p>
        </p:txBody>
      </p:sp>
      <p:sp>
        <p:nvSpPr>
          <p:cNvPr id="12" name="why: 뿌듯한 나"/>
          <p:cNvSpPr/>
          <p:nvPr/>
        </p:nvSpPr>
        <p:spPr>
          <a:xfrm>
            <a:off x="6540500" y="2794000"/>
            <a:ext cx="1651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300" b="1">
                <a:solidFill>
                  <a:srgbClr val="1F2A2E"/>
                </a:solidFill>
                <a:latin typeface="Pretendard"/>
              </a:rPr>
              <a:t>뿌듯한 나</a:t>
            </a:r>
          </a:p>
        </p:txBody>
      </p:sp>
      <p:sp>
        <p:nvSpPr>
          <p:cNvPr id="13" name="why: 잘 자기"/>
          <p:cNvSpPr/>
          <p:nvPr/>
        </p:nvSpPr>
        <p:spPr>
          <a:xfrm>
            <a:off x="2857500" y="3746500"/>
            <a:ext cx="1397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300" b="1">
                <a:solidFill>
                  <a:srgbClr val="1F2A2E"/>
                </a:solidFill>
                <a:latin typeface="Pretendard"/>
              </a:rPr>
              <a:t>잘 자기</a:t>
            </a:r>
          </a:p>
        </p:txBody>
      </p:sp>
      <p:sp>
        <p:nvSpPr>
          <p:cNvPr id="14" name="why: 목 상태 개선"/>
          <p:cNvSpPr/>
          <p:nvPr/>
        </p:nvSpPr>
        <p:spPr>
          <a:xfrm>
            <a:off x="1016000" y="3746500"/>
            <a:ext cx="1524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300" b="1">
                <a:solidFill>
                  <a:srgbClr val="1F2A2E"/>
                </a:solidFill>
                <a:latin typeface="Pretendard"/>
              </a:rPr>
              <a:t>목 상태 개선</a:t>
            </a:r>
          </a:p>
        </p:txBody>
      </p:sp>
      <p:sp>
        <p:nvSpPr>
          <p:cNvPr id="15" name="why: 운동"/>
          <p:cNvSpPr/>
          <p:nvPr/>
        </p:nvSpPr>
        <p:spPr>
          <a:xfrm>
            <a:off x="5080000" y="3746500"/>
            <a:ext cx="1270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300" b="1">
                <a:solidFill>
                  <a:srgbClr val="1F2A2E"/>
                </a:solidFill>
                <a:latin typeface="Pretendard"/>
              </a:rPr>
              <a:t>운동</a:t>
            </a:r>
          </a:p>
        </p:txBody>
      </p:sp>
      <p:sp>
        <p:nvSpPr>
          <p:cNvPr id="16" name="why: 목 마사지기"/>
          <p:cNvSpPr/>
          <p:nvPr/>
        </p:nvSpPr>
        <p:spPr>
          <a:xfrm>
            <a:off x="444500" y="4826000"/>
            <a:ext cx="1397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300" b="1">
                <a:solidFill>
                  <a:srgbClr val="1F2A2E"/>
                </a:solidFill>
                <a:latin typeface="Pretendard"/>
              </a:rPr>
              <a:t>목 마사지기</a:t>
            </a:r>
          </a:p>
        </p:txBody>
      </p:sp>
      <p:sp>
        <p:nvSpPr>
          <p:cNvPr id="17" name="seed: 침대"/>
          <p:cNvSpPr/>
          <p:nvPr/>
        </p:nvSpPr>
        <p:spPr>
          <a:xfrm>
            <a:off x="2032000" y="4826000"/>
            <a:ext cx="1270000" cy="508000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300" b="1">
                <a:solidFill>
                  <a:srgbClr val="1F2A2E"/>
                </a:solidFill>
                <a:latin typeface="Pretendard"/>
              </a:rPr>
              <a:t>침대</a:t>
            </a:r>
          </a:p>
        </p:txBody>
      </p:sp>
      <p:sp>
        <p:nvSpPr>
          <p:cNvPr id="18" name="why: 베개"/>
          <p:cNvSpPr/>
          <p:nvPr/>
        </p:nvSpPr>
        <p:spPr>
          <a:xfrm>
            <a:off x="3429000" y="4826000"/>
            <a:ext cx="1270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300" b="1">
                <a:solidFill>
                  <a:srgbClr val="1F2A2E"/>
                </a:solidFill>
                <a:latin typeface="Pretendard"/>
              </a:rPr>
              <a:t>베개</a:t>
            </a:r>
          </a:p>
        </p:txBody>
      </p:sp>
      <p:sp>
        <p:nvSpPr>
          <p:cNvPr id="19" name="why: 암막 커튼"/>
          <p:cNvSpPr/>
          <p:nvPr/>
        </p:nvSpPr>
        <p:spPr>
          <a:xfrm>
            <a:off x="4826000" y="4826000"/>
            <a:ext cx="1270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300" b="1">
                <a:solidFill>
                  <a:srgbClr val="1F2A2E"/>
                </a:solidFill>
                <a:latin typeface="Pretendard"/>
              </a:rPr>
              <a:t>암막 커튼</a:t>
            </a:r>
          </a:p>
        </p:txBody>
      </p:sp>
      <p:cxnSp>
        <p:nvCxnSpPr>
          <p:cNvPr id="20" name="화살표"/>
          <p:cNvCxnSpPr>
            <a:cxnSpLocks/>
            <a:stCxn id="11" idx="0"/>
            <a:endCxn id="10" idx="2"/>
          </p:cNvCxnSpPr>
          <p:nvPr/>
        </p:nvCxnSpPr>
        <p:spPr>
          <a:xfrm flipV="1">
            <a:off x="4318000" y="2349500"/>
            <a:ext cx="1397000" cy="4445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화살표"/>
          <p:cNvCxnSpPr>
            <a:cxnSpLocks/>
            <a:stCxn id="12" idx="0"/>
            <a:endCxn id="10" idx="2"/>
          </p:cNvCxnSpPr>
          <p:nvPr/>
        </p:nvCxnSpPr>
        <p:spPr>
          <a:xfrm flipH="1" flipV="1">
            <a:off x="5715000" y="2349500"/>
            <a:ext cx="1651000" cy="4445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화살표"/>
          <p:cNvCxnSpPr>
            <a:cxnSpLocks/>
            <a:stCxn id="13" idx="0"/>
            <a:endCxn id="11" idx="2"/>
          </p:cNvCxnSpPr>
          <p:nvPr/>
        </p:nvCxnSpPr>
        <p:spPr>
          <a:xfrm flipV="1">
            <a:off x="3556000" y="3302000"/>
            <a:ext cx="762000" cy="4445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화살표"/>
          <p:cNvCxnSpPr>
            <a:stCxn id="15" idx="0"/>
            <a:endCxn id="11" idx="2"/>
          </p:cNvCxnSpPr>
          <p:nvPr/>
        </p:nvCxnSpPr>
        <p:spPr>
          <a:xfrm flipH="1" flipV="1">
            <a:off x="4318000" y="3302000"/>
            <a:ext cx="1397000" cy="4445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화살표"/>
          <p:cNvCxnSpPr>
            <a:stCxn id="14" idx="0"/>
            <a:endCxn id="11" idx="2"/>
          </p:cNvCxnSpPr>
          <p:nvPr/>
        </p:nvCxnSpPr>
        <p:spPr>
          <a:xfrm flipV="1">
            <a:off x="1778000" y="3302000"/>
            <a:ext cx="2540000" cy="4445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화살표"/>
          <p:cNvCxnSpPr>
            <a:stCxn id="17" idx="0"/>
            <a:endCxn id="13" idx="2"/>
          </p:cNvCxnSpPr>
          <p:nvPr/>
        </p:nvCxnSpPr>
        <p:spPr>
          <a:xfrm flipV="1">
            <a:off x="2667000" y="4254500"/>
            <a:ext cx="889000" cy="5715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화살표"/>
          <p:cNvCxnSpPr>
            <a:stCxn id="18" idx="0"/>
            <a:endCxn id="13" idx="2"/>
          </p:cNvCxnSpPr>
          <p:nvPr/>
        </p:nvCxnSpPr>
        <p:spPr>
          <a:xfrm flipH="1" flipV="1">
            <a:off x="3556000" y="4254500"/>
            <a:ext cx="508000" cy="5715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화살표"/>
          <p:cNvCxnSpPr>
            <a:stCxn id="19" idx="0"/>
            <a:endCxn id="13" idx="2"/>
          </p:cNvCxnSpPr>
          <p:nvPr/>
        </p:nvCxnSpPr>
        <p:spPr>
          <a:xfrm flipH="1" flipV="1">
            <a:off x="3556000" y="4254500"/>
            <a:ext cx="1905000" cy="5715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화살표"/>
          <p:cNvCxnSpPr>
            <a:stCxn id="16" idx="0"/>
            <a:endCxn id="14" idx="2"/>
          </p:cNvCxnSpPr>
          <p:nvPr/>
        </p:nvCxnSpPr>
        <p:spPr>
          <a:xfrm flipV="1">
            <a:off x="1143000" y="4254500"/>
            <a:ext cx="635000" cy="5715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화살표 (점선: 부가적인 why)"/>
          <p:cNvCxnSpPr>
            <a:stCxn id="18" idx="0"/>
            <a:endCxn id="14" idx="2"/>
          </p:cNvCxnSpPr>
          <p:nvPr/>
        </p:nvCxnSpPr>
        <p:spPr>
          <a:xfrm flipH="1" flipV="1">
            <a:off x="1778000" y="4254500"/>
            <a:ext cx="2286000" cy="571500"/>
          </a:xfrm>
          <a:prstGeom prst="line">
            <a:avLst/>
          </a:prstGeom>
          <a:ln w="22225">
            <a:solidFill>
              <a:srgbClr val="7FA08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620000" y="4318000"/>
            <a:ext cx="4064000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A5568"/>
                </a:solidFill>
                <a:latin typeface="Pretendard"/>
              </a:rPr>
              <a:t>베개의 가장 중요한 why는 "잘 자기"라서 실선입니다. "목 상태 개선"에도 도움이 되므로 점선으로 이었습니다.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211</Words>
  <Application>Microsoft Macintosh PowerPoint</Application>
  <PresentationFormat>Widescreen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Pretendard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 Soo Yi</cp:lastModifiedBy>
  <cp:revision>4</cp:revision>
  <dcterms:created xsi:type="dcterms:W3CDTF">2013-01-27T09:14:16Z</dcterms:created>
  <dcterms:modified xsi:type="dcterms:W3CDTF">2026-10-16T23:12:43Z</dcterms:modified>
  <cp:category/>
</cp:coreProperties>
</file>