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40" name="Connector 39"/>
          <p:cNvCxnSpPr/>
          <p:nvPr/>
        </p:nvCxnSpPr>
        <p:spPr>
          <a:xfrm>
            <a:off x="10789920" y="3200400"/>
            <a:ext cx="182880" cy="731520"/>
          </a:xfrm>
          <a:prstGeom prst="line">
            <a:avLst/>
          </a:prstGeom>
          <a:ln w="19050">
            <a:solidFill>
              <a:srgbClr val="0064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9875520" y="3200400"/>
            <a:ext cx="914400" cy="731520"/>
          </a:xfrm>
          <a:prstGeom prst="line">
            <a:avLst/>
          </a:prstGeom>
          <a:ln w="19050">
            <a:solidFill>
              <a:srgbClr val="00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686800" y="3200400"/>
            <a:ext cx="274320" cy="731520"/>
          </a:xfrm>
          <a:prstGeom prst="line">
            <a:avLst/>
          </a:prstGeom>
          <a:ln w="19050">
            <a:solidFill>
              <a:srgbClr val="00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15200" y="3200400"/>
            <a:ext cx="0" cy="731520"/>
          </a:xfrm>
          <a:prstGeom prst="line">
            <a:avLst/>
          </a:prstGeom>
          <a:ln w="19050">
            <a:solidFill>
              <a:srgbClr val="0064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6217920" y="3200400"/>
            <a:ext cx="1097280" cy="731520"/>
          </a:xfrm>
          <a:prstGeom prst="line">
            <a:avLst/>
          </a:prstGeom>
          <a:ln w="19050">
            <a:solidFill>
              <a:srgbClr val="00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4846320" y="3200400"/>
            <a:ext cx="182880" cy="731520"/>
          </a:xfrm>
          <a:prstGeom prst="line">
            <a:avLst/>
          </a:prstGeom>
          <a:ln w="19050">
            <a:solidFill>
              <a:srgbClr val="0064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3840480" y="3200400"/>
            <a:ext cx="1188720" cy="731520"/>
          </a:xfrm>
          <a:prstGeom prst="line">
            <a:avLst/>
          </a:prstGeom>
          <a:ln w="19050">
            <a:solidFill>
              <a:srgbClr val="00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86000" y="3200400"/>
            <a:ext cx="365760" cy="731520"/>
          </a:xfrm>
          <a:prstGeom prst="line">
            <a:avLst/>
          </a:prstGeom>
          <a:ln w="19050">
            <a:solidFill>
              <a:srgbClr val="0064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645920" y="3200400"/>
            <a:ext cx="640080" cy="731520"/>
          </a:xfrm>
          <a:prstGeom prst="line">
            <a:avLst/>
          </a:prstGeom>
          <a:ln w="19050">
            <a:solidFill>
              <a:srgbClr val="00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40080" y="3200400"/>
            <a:ext cx="274320" cy="731520"/>
          </a:xfrm>
          <a:prstGeom prst="line">
            <a:avLst/>
          </a:prstGeom>
          <a:ln w="19050">
            <a:solidFill>
              <a:srgbClr val="00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360152" y="1965960"/>
            <a:ext cx="429768" cy="640080"/>
          </a:xfrm>
          <a:prstGeom prst="line">
            <a:avLst/>
          </a:prstGeom>
          <a:ln w="19050">
            <a:solidFill>
              <a:srgbClr val="00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961120" y="1965960"/>
            <a:ext cx="1399032" cy="640080"/>
          </a:xfrm>
          <a:prstGeom prst="line">
            <a:avLst/>
          </a:prstGeom>
          <a:ln w="19050">
            <a:solidFill>
              <a:srgbClr val="00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89904" y="1965960"/>
            <a:ext cx="1225296" cy="640080"/>
          </a:xfrm>
          <a:prstGeom prst="line">
            <a:avLst/>
          </a:prstGeom>
          <a:ln w="19050">
            <a:solidFill>
              <a:srgbClr val="00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029200" y="1965960"/>
            <a:ext cx="1060704" cy="640080"/>
          </a:xfrm>
          <a:prstGeom prst="line">
            <a:avLst/>
          </a:prstGeom>
          <a:ln w="19050">
            <a:solidFill>
              <a:srgbClr val="00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0" y="1965960"/>
            <a:ext cx="457200" cy="640080"/>
          </a:xfrm>
          <a:prstGeom prst="line">
            <a:avLst/>
          </a:prstGeom>
          <a:ln w="19050">
            <a:solidFill>
              <a:srgbClr val="00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914400" y="1965960"/>
            <a:ext cx="914400" cy="640080"/>
          </a:xfrm>
          <a:prstGeom prst="line">
            <a:avLst/>
          </a:prstGeom>
          <a:ln w="19050">
            <a:solidFill>
              <a:srgbClr val="00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89904" y="960120"/>
            <a:ext cx="4270248" cy="411480"/>
          </a:xfrm>
          <a:prstGeom prst="line">
            <a:avLst/>
          </a:prstGeom>
          <a:ln w="19050">
            <a:solidFill>
              <a:srgbClr val="00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89904" y="960120"/>
            <a:ext cx="0" cy="411480"/>
          </a:xfrm>
          <a:prstGeom prst="line">
            <a:avLst/>
          </a:prstGeom>
          <a:ln w="19050">
            <a:solidFill>
              <a:srgbClr val="00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828800" y="960120"/>
            <a:ext cx="4261104" cy="411480"/>
          </a:xfrm>
          <a:prstGeom prst="line">
            <a:avLst/>
          </a:prstGeom>
          <a:ln w="19050">
            <a:solidFill>
              <a:srgbClr val="00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5266944" y="365760"/>
            <a:ext cx="164592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00" b="0"/>
            </a:pPr>
            <a:r>
              <a:rPr>
                <a:solidFill>
                  <a:srgbClr val="000000"/>
                </a:solidFill>
              </a:rPr>
              <a:t>피부 미용에 대한 주체적인 의사결정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1371600"/>
            <a:ext cx="13716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00" b="0"/>
            </a:pPr>
            <a:r>
              <a:rPr>
                <a:solidFill>
                  <a:srgbClr val="000000"/>
                </a:solidFill>
              </a:rPr>
              <a:t>A. 시술 정보의</a:t>
            </a:r>
            <a:br/>
            <a:r>
              <a:rPr>
                <a:solidFill>
                  <a:srgbClr val="000000"/>
                </a:solidFill>
              </a:rPr>
              <a:t>불확실성 감소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4104" y="1371600"/>
            <a:ext cx="13716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00" b="0"/>
            </a:pPr>
            <a:r>
              <a:rPr>
                <a:solidFill>
                  <a:srgbClr val="000000"/>
                </a:solidFill>
              </a:rPr>
              <a:t>B. 개인 시술</a:t>
            </a:r>
            <a:br/>
            <a:r>
              <a:rPr>
                <a:solidFill>
                  <a:srgbClr val="000000"/>
                </a:solidFill>
              </a:rPr>
              <a:t>경험의 활용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74352" y="1371600"/>
            <a:ext cx="13716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00" b="0"/>
            </a:pPr>
            <a:r>
              <a:rPr>
                <a:solidFill>
                  <a:srgbClr val="000000"/>
                </a:solidFill>
              </a:rPr>
              <a:t>C. 개인에게</a:t>
            </a:r>
            <a:br/>
            <a:r>
              <a:rPr>
                <a:solidFill>
                  <a:srgbClr val="000000"/>
                </a:solidFill>
              </a:rPr>
              <a:t>중요한 선택</a:t>
            </a:r>
            <a:br/>
            <a:r>
              <a:rPr>
                <a:solidFill>
                  <a:srgbClr val="000000"/>
                </a:solidFill>
              </a:rPr>
              <a:t>기준 반영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606040"/>
            <a:ext cx="128016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00" b="0"/>
            </a:pPr>
            <a:r>
              <a:rPr>
                <a:solidFill>
                  <a:srgbClr val="000000"/>
                </a:solidFill>
              </a:rPr>
              <a:t>최신 시술</a:t>
            </a:r>
            <a:br/>
            <a:r>
              <a:rPr>
                <a:solidFill>
                  <a:srgbClr val="000000"/>
                </a:solidFill>
              </a:rPr>
              <a:t>트렌드 파악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606040"/>
            <a:ext cx="128016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00" b="0"/>
            </a:pPr>
            <a:r>
              <a:rPr>
                <a:solidFill>
                  <a:srgbClr val="000000"/>
                </a:solidFill>
              </a:rPr>
              <a:t>시술별 특징과</a:t>
            </a:r>
            <a:br/>
            <a:r>
              <a:rPr>
                <a:solidFill>
                  <a:srgbClr val="000000"/>
                </a:solidFill>
              </a:rPr>
              <a:t>실제 경험 이해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606040"/>
            <a:ext cx="128016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00" b="0"/>
            </a:pPr>
            <a:r>
              <a:rPr>
                <a:solidFill>
                  <a:srgbClr val="000000"/>
                </a:solidFill>
              </a:rPr>
              <a:t>과거 시술</a:t>
            </a:r>
            <a:br/>
            <a:r>
              <a:rPr>
                <a:solidFill>
                  <a:srgbClr val="000000"/>
                </a:solidFill>
              </a:rPr>
              <a:t>경험의 체계적</a:t>
            </a:r>
            <a:br/>
            <a:r>
              <a:rPr>
                <a:solidFill>
                  <a:srgbClr val="000000"/>
                </a:solidFill>
              </a:rPr>
              <a:t>축적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606040"/>
            <a:ext cx="128016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00" b="0"/>
            </a:pPr>
            <a:r>
              <a:rPr>
                <a:solidFill>
                  <a:srgbClr val="000000"/>
                </a:solidFill>
              </a:rPr>
              <a:t>시술 후 실제</a:t>
            </a:r>
            <a:br/>
            <a:r>
              <a:rPr>
                <a:solidFill>
                  <a:srgbClr val="000000"/>
                </a:solidFill>
              </a:rPr>
              <a:t>경험 파악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606040"/>
            <a:ext cx="128016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00" b="0"/>
            </a:pPr>
            <a:r>
              <a:rPr>
                <a:solidFill>
                  <a:srgbClr val="000000"/>
                </a:solidFill>
              </a:rPr>
              <a:t>개인의 선호도와</a:t>
            </a:r>
            <a:br/>
            <a:r>
              <a:rPr>
                <a:solidFill>
                  <a:srgbClr val="000000"/>
                </a:solidFill>
              </a:rPr>
              <a:t>제약 조건 파악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2606040"/>
            <a:ext cx="128016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00" b="0"/>
            </a:pPr>
            <a:r>
              <a:rPr>
                <a:solidFill>
                  <a:srgbClr val="000000"/>
                </a:solidFill>
              </a:rPr>
              <a:t>개인 경험과</a:t>
            </a:r>
            <a:br/>
            <a:r>
              <a:rPr>
                <a:solidFill>
                  <a:srgbClr val="000000"/>
                </a:solidFill>
              </a:rPr>
              <a:t>외부 정보 연결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39" y="3931920"/>
            <a:ext cx="10972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750" b="0"/>
            </a:pPr>
            <a:r>
              <a:rPr>
                <a:solidFill>
                  <a:srgbClr val="000000"/>
                </a:solidFill>
              </a:rPr>
              <a:t>커뮤니티 기반</a:t>
            </a:r>
            <a:br/>
            <a:r>
              <a:rPr>
                <a:solidFill>
                  <a:srgbClr val="000000"/>
                </a:solidFill>
              </a:rPr>
              <a:t>시술 트렌드</a:t>
            </a:r>
            <a:br/>
            <a:r>
              <a:rPr>
                <a:solidFill>
                  <a:srgbClr val="000000"/>
                </a:solidFill>
              </a:rPr>
              <a:t>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931920"/>
            <a:ext cx="10972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750" b="0"/>
            </a:pPr>
            <a:r>
              <a:rPr>
                <a:solidFill>
                  <a:srgbClr val="000000"/>
                </a:solidFill>
              </a:rPr>
              <a:t>AI 기반</a:t>
            </a:r>
            <a:br/>
            <a:r>
              <a:rPr>
                <a:solidFill>
                  <a:srgbClr val="000000"/>
                </a:solidFill>
              </a:rPr>
              <a:t>커뮤니티</a:t>
            </a:r>
            <a:br/>
            <a:r>
              <a:rPr>
                <a:solidFill>
                  <a:srgbClr val="000000"/>
                </a:solidFill>
              </a:rPr>
              <a:t>후기 요약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3931920"/>
            <a:ext cx="1097280" cy="7315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064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750" b="0"/>
            </a:pPr>
            <a:r>
              <a:rPr>
                <a:solidFill>
                  <a:srgbClr val="000000"/>
                </a:solidFill>
              </a:rPr>
              <a:t>시술별 비교</a:t>
            </a:r>
            <a:br/>
            <a:r>
              <a:rPr>
                <a:solidFill>
                  <a:srgbClr val="000000"/>
                </a:solidFill>
              </a:rPr>
              <a:t>가이드 제공</a:t>
            </a:r>
            <a:br/>
            <a:r>
              <a:rPr>
                <a:solidFill>
                  <a:srgbClr val="000000"/>
                </a:solidFill>
              </a:rPr>
              <a:t>[대안]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3931920"/>
            <a:ext cx="10972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750" b="0"/>
            </a:pPr>
            <a:r>
              <a:rPr>
                <a:solidFill>
                  <a:srgbClr val="000000"/>
                </a:solidFill>
              </a:rPr>
              <a:t>AI 대화 기반</a:t>
            </a:r>
            <a:br/>
            <a:r>
              <a:rPr>
                <a:solidFill>
                  <a:srgbClr val="000000"/>
                </a:solidFill>
              </a:rPr>
              <a:t>시술 이력</a:t>
            </a:r>
            <a:br/>
            <a:r>
              <a:rPr>
                <a:solidFill>
                  <a:srgbClr val="000000"/>
                </a:solidFill>
              </a:rPr>
              <a:t>기록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931920"/>
            <a:ext cx="1097280" cy="7315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064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750" b="0"/>
            </a:pPr>
            <a:r>
              <a:rPr>
                <a:solidFill>
                  <a:srgbClr val="000000"/>
                </a:solidFill>
              </a:rPr>
              <a:t>진료 내역·</a:t>
            </a:r>
            <a:br/>
            <a:r>
              <a:rPr>
                <a:solidFill>
                  <a:srgbClr val="000000"/>
                </a:solidFill>
              </a:rPr>
              <a:t>영수증 기반</a:t>
            </a:r>
            <a:br/>
            <a:r>
              <a:rPr>
                <a:solidFill>
                  <a:srgbClr val="000000"/>
                </a:solidFill>
              </a:rPr>
              <a:t>자동 기록</a:t>
            </a:r>
            <a:br/>
            <a:r>
              <a:rPr>
                <a:solidFill>
                  <a:srgbClr val="000000"/>
                </a:solidFill>
              </a:rPr>
              <a:t>[대안]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3931920"/>
            <a:ext cx="10972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750" b="0"/>
            </a:pPr>
            <a:r>
              <a:rPr>
                <a:solidFill>
                  <a:srgbClr val="000000"/>
                </a:solidFill>
              </a:rPr>
              <a:t>통증·효과·</a:t>
            </a:r>
            <a:br/>
            <a:r>
              <a:rPr>
                <a:solidFill>
                  <a:srgbClr val="000000"/>
                </a:solidFill>
              </a:rPr>
              <a:t>만족도 기록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3931920"/>
            <a:ext cx="1097280" cy="7315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064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750" b="0"/>
            </a:pPr>
            <a:r>
              <a:rPr>
                <a:solidFill>
                  <a:srgbClr val="000000"/>
                </a:solidFill>
              </a:rPr>
              <a:t>시술 후 경과</a:t>
            </a:r>
            <a:br/>
            <a:r>
              <a:rPr>
                <a:solidFill>
                  <a:srgbClr val="000000"/>
                </a:solidFill>
              </a:rPr>
              <a:t>기록 리마인더</a:t>
            </a:r>
            <a:br/>
            <a:r>
              <a:rPr>
                <a:solidFill>
                  <a:srgbClr val="000000"/>
                </a:solidFill>
              </a:rPr>
              <a:t>[대안]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931920"/>
            <a:ext cx="10972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750" b="0"/>
            </a:pPr>
            <a:r>
              <a:rPr>
                <a:solidFill>
                  <a:srgbClr val="000000"/>
                </a:solidFill>
              </a:rPr>
              <a:t>AI 대화를</a:t>
            </a:r>
            <a:br/>
            <a:r>
              <a:rPr>
                <a:solidFill>
                  <a:srgbClr val="000000"/>
                </a:solidFill>
              </a:rPr>
              <a:t>통한 선호도</a:t>
            </a:r>
            <a:br/>
            <a:r>
              <a:rPr>
                <a:solidFill>
                  <a:srgbClr val="000000"/>
                </a:solidFill>
              </a:rPr>
              <a:t>분석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3931920"/>
            <a:ext cx="10972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750" b="0"/>
            </a:pPr>
            <a:r>
              <a:rPr>
                <a:solidFill>
                  <a:srgbClr val="000000"/>
                </a:solidFill>
              </a:rPr>
              <a:t>개인 이력과</a:t>
            </a:r>
            <a:br/>
            <a:r>
              <a:rPr>
                <a:solidFill>
                  <a:srgbClr val="000000"/>
                </a:solidFill>
              </a:rPr>
              <a:t>커뮤니티</a:t>
            </a:r>
            <a:br/>
            <a:r>
              <a:rPr>
                <a:solidFill>
                  <a:srgbClr val="000000"/>
                </a:solidFill>
              </a:rPr>
              <a:t>정보 기반</a:t>
            </a:r>
            <a:br/>
            <a:r>
              <a:rPr>
                <a:solidFill>
                  <a:srgbClr val="000000"/>
                </a:solidFill>
              </a:rPr>
              <a:t>시술 비교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24160" y="3931920"/>
            <a:ext cx="1097280" cy="7315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064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750" b="0"/>
            </a:pPr>
            <a:r>
              <a:rPr>
                <a:solidFill>
                  <a:srgbClr val="000000"/>
                </a:solidFill>
              </a:rPr>
              <a:t>의료진 상담용</a:t>
            </a:r>
            <a:br/>
            <a:r>
              <a:rPr>
                <a:solidFill>
                  <a:srgbClr val="000000"/>
                </a:solidFill>
              </a:rPr>
              <a:t>질문 목록</a:t>
            </a:r>
            <a:br/>
            <a:r>
              <a:rPr>
                <a:solidFill>
                  <a:srgbClr val="000000"/>
                </a:solidFill>
              </a:rPr>
              <a:t>생성 [대안]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" y="1828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rPr>
                <a:solidFill>
                  <a:srgbClr val="006400"/>
                </a:solidFill>
              </a:rPr>
              <a:t>WhyTree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182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rPr>
                <a:solidFill>
                  <a:srgbClr val="000000"/>
                </a:solidFill>
              </a:rPr>
              <a:t>sorakim</a:t>
            </a:r>
            <a:br/>
            <a:r>
              <a:rPr>
                <a:solidFill>
                  <a:srgbClr val="000000"/>
                </a:solidFill>
              </a:rPr>
              <a:t>2026-10-28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