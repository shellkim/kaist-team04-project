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  <Relationship Id="rId8" Type="http://schemas.openxmlformats.org/officeDocument/2006/relationships/slide" Target="slides/slide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800" b="1">
                <a:solidFill>
                  <a:srgbClr val="2F6B4F"/>
                </a:solidFill>
                <a:latin typeface="Pretendard"/>
              </a:rPr>
              <a:t>WhyTree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1249" y="508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6A7179"/>
                </a:solidFill>
                <a:latin typeface="Pretendard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300">
                <a:solidFill>
                  <a:srgbClr val="1F2A2E"/>
                </a:solidFill>
                <a:latin typeface="Pretendard"/>
              </a:rPr>
              <a:t>solbi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6A7179"/>
                </a:solidFill>
                <a:latin typeface="Pretendard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300">
                <a:solidFill>
                  <a:srgbClr val="1F2A2E"/>
                </a:solidFill>
                <a:latin typeface="Pretendard"/>
              </a:rPr>
              <a:t>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952500"/>
            <a:ext cx="571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500" b="1">
                <a:solidFill>
                  <a:srgbClr val="2F6B4F"/>
                </a:solidFill>
                <a:latin typeface="Pretendard"/>
              </a:rPr>
              <a:t>피부과 루틴 서비스</a:t>
            </a:r>
          </a:p>
        </p:txBody>
      </p:sp>
      <p:sp>
        <p:nvSpPr>
          <p:cNvPr id="10" name="why: 아름답게 나이 들기 — 고유의 분위기와 이지적임을 유지하며 관리"/>
          <p:cNvSpPr/>
          <p:nvPr/>
        </p:nvSpPr>
        <p:spPr>
          <a:xfrm>
            <a:off x="5296000" y="1500000"/>
            <a:ext cx="1600000" cy="658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아름답게 나이 들기 — 고유의 분위기와 이지적임을 유지하며 관리</a:t>
            </a:r>
          </a:p>
        </p:txBody>
      </p:sp>
      <p:sp>
        <p:nvSpPr>
          <p:cNvPr id="11" name="why: 나답게 잘 관리되고 있다는 확신 (비교가 아니라 자기 기준)"/>
          <p:cNvSpPr/>
          <p:nvPr/>
        </p:nvSpPr>
        <p:spPr>
          <a:xfrm>
            <a:off x="5296000" y="2434000"/>
            <a:ext cx="1600000" cy="658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나답게 잘 관리되고 있다는 확신 (비교가 아니라 자기 기준)</a:t>
            </a:r>
          </a:p>
        </p:txBody>
      </p:sp>
      <p:sp>
        <p:nvSpPr>
          <p:cNvPr id="12" name="why: 이만큼은 나한테 투자할 수 있어 하는 감각"/>
          <p:cNvSpPr/>
          <p:nvPr/>
        </p:nvSpPr>
        <p:spPr>
          <a:xfrm>
            <a:off x="971000" y="3368000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이만큼은 나한테 투자할 수 있어 하는 감각</a:t>
            </a:r>
          </a:p>
        </p:txBody>
      </p:sp>
      <p:sp>
        <p:nvSpPr>
          <p:cNvPr id="13" name="why: 자신감 저하 + 고속노화 불안"/>
          <p:cNvSpPr/>
          <p:nvPr/>
        </p:nvSpPr>
        <p:spPr>
          <a:xfrm>
            <a:off x="971000" y="4159125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자신감 저하 + 고속노화 불안</a:t>
            </a:r>
          </a:p>
        </p:txBody>
      </p:sp>
      <p:sp>
        <p:nvSpPr>
          <p:cNvPr id="14" name="why: 관심 편차가 커서 관리를 놓치는 순간이 온다"/>
          <p:cNvSpPr/>
          <p:nvPr/>
        </p:nvSpPr>
        <p:spPr>
          <a:xfrm>
            <a:off x="971000" y="5093125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관심 편차가 커서 관리를 놓치는 순간이 온다</a:t>
            </a:r>
          </a:p>
        </p:txBody>
      </p:sp>
      <p:sp>
        <p:nvSpPr>
          <p:cNvPr id="15" name="seed: 피부과 시술 받는 2040 여성의 루틴 관리 서비스"/>
          <p:cNvSpPr/>
          <p:nvPr/>
        </p:nvSpPr>
        <p:spPr>
          <a:xfrm>
            <a:off x="971000" y="5884250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피부과 시술 받는 2040 여성의 루틴 관리 서비스</a:t>
            </a:r>
          </a:p>
        </p:txBody>
      </p:sp>
      <p:sp>
        <p:nvSpPr>
          <p:cNvPr id="16" name="why: 지속가능성 — 하루가 쌓여 1년, 1년이 쌓여 10년"/>
          <p:cNvSpPr/>
          <p:nvPr/>
        </p:nvSpPr>
        <p:spPr>
          <a:xfrm>
            <a:off x="3566000" y="3368000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지속가능성 — 하루가 쌓여 1년, 1년이 쌓여 10년</a:t>
            </a:r>
          </a:p>
        </p:txBody>
      </p:sp>
      <p:sp>
        <p:nvSpPr>
          <p:cNvPr id="17" name="how: 연간 예산 안에서 역산한 꼭 필요한 시술·홈케어 루틴"/>
          <p:cNvSpPr/>
          <p:nvPr/>
        </p:nvSpPr>
        <p:spPr>
          <a:xfrm>
            <a:off x="2701000" y="4159125"/>
            <a:ext cx="1600000" cy="658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연간 예산 안에서 역산한 꼭 필요한 시술·홈케어 루틴</a:t>
            </a:r>
          </a:p>
        </p:txBody>
      </p:sp>
      <p:sp>
        <p:nvSpPr>
          <p:cNvPr id="18" name="how: 생리주기 시계 위에서 때 되면 불러주는 루틴 알림"/>
          <p:cNvSpPr/>
          <p:nvPr/>
        </p:nvSpPr>
        <p:spPr>
          <a:xfrm>
            <a:off x="4431000" y="4159125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생리주기 시계 위에서 때 되면 불러주는 루틴 알림</a:t>
            </a:r>
          </a:p>
        </p:txBody>
      </p:sp>
      <p:sp>
        <p:nvSpPr>
          <p:cNvPr id="19" name="how: 내가 고른 추구미 — 분위기 어휘로 설정"/>
          <p:cNvSpPr/>
          <p:nvPr/>
        </p:nvSpPr>
        <p:spPr>
          <a:xfrm>
            <a:off x="7026000" y="3368000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내가 고른 추구미 — 분위기 어휘로 설정</a:t>
            </a:r>
          </a:p>
        </p:txBody>
      </p:sp>
      <p:sp>
        <p:nvSpPr>
          <p:cNvPr id="20" name="how: 로컬 사진 분석으로 고유의 강점 3개 찾기"/>
          <p:cNvSpPr/>
          <p:nvPr/>
        </p:nvSpPr>
        <p:spPr>
          <a:xfrm>
            <a:off x="6161000" y="4159125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로컬 사진 분석으로 고유의 강점 3개 찾기</a:t>
            </a:r>
          </a:p>
        </p:txBody>
      </p:sp>
      <p:sp>
        <p:nvSpPr>
          <p:cNvPr id="21" name="how: 두 장의 미래 — 자연 노화의 나 / 내가 고른 나"/>
          <p:cNvSpPr/>
          <p:nvPr/>
        </p:nvSpPr>
        <p:spPr>
          <a:xfrm>
            <a:off x="7891000" y="4159125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두 장의 미래 — 자연 노화의 나 / 내가 고른 나</a:t>
            </a:r>
          </a:p>
        </p:txBody>
      </p:sp>
      <p:sp>
        <p:nvSpPr>
          <p:cNvPr id="22" name="how: 한 일 기록 + 분기마다 로컬 재분석"/>
          <p:cNvSpPr/>
          <p:nvPr/>
        </p:nvSpPr>
        <p:spPr>
          <a:xfrm>
            <a:off x="9621000" y="3368000"/>
            <a:ext cx="1600000" cy="51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900" b="1">
                <a:solidFill>
                  <a:srgbClr val="1F2A2E"/>
                </a:solidFill>
                <a:latin typeface="Pretendard"/>
              </a:rPr>
              <a:t>한 일 기록 + 분기마다 로컬 재분석</a:t>
            </a:r>
          </a:p>
        </p:txBody>
      </p:sp>
      <p:cxnSp>
        <p:nvCxnSpPr>
          <p:cNvPr id="23" name="화살표"/>
          <p:cNvCxnSpPr>
            <a:cxnSpLocks/>
            <a:stCxn id="11" idx="0"/>
            <a:endCxn id="10" idx="2"/>
          </p:cNvCxnSpPr>
          <p:nvPr/>
        </p:nvCxnSpPr>
        <p:spPr>
          <a:xfrm flipV="1">
            <a:off x="6096000" y="2158625"/>
            <a:ext cx="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화살표"/>
          <p:cNvCxnSpPr>
            <a:cxnSpLocks/>
            <a:stCxn id="12" idx="0"/>
            <a:endCxn id="11" idx="2"/>
          </p:cNvCxnSpPr>
          <p:nvPr/>
        </p:nvCxnSpPr>
        <p:spPr>
          <a:xfrm flipV="1">
            <a:off x="1771000" y="3092625"/>
            <a:ext cx="4325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화살표"/>
          <p:cNvCxnSpPr>
            <a:cxnSpLocks/>
            <a:stCxn id="13" idx="0"/>
            <a:endCxn id="12" idx="2"/>
          </p:cNvCxnSpPr>
          <p:nvPr/>
        </p:nvCxnSpPr>
        <p:spPr>
          <a:xfrm flipV="1">
            <a:off x="1771000" y="3883750"/>
            <a:ext cx="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화살표"/>
          <p:cNvCxnSpPr>
            <a:cxnSpLocks/>
            <a:stCxn id="14" idx="0"/>
            <a:endCxn id="13" idx="2"/>
          </p:cNvCxnSpPr>
          <p:nvPr/>
        </p:nvCxnSpPr>
        <p:spPr>
          <a:xfrm flipV="1">
            <a:off x="1771000" y="4674875"/>
            <a:ext cx="0" cy="41825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화살표"/>
          <p:cNvCxnSpPr>
            <a:cxnSpLocks/>
            <a:stCxn id="15" idx="0"/>
            <a:endCxn id="14" idx="2"/>
          </p:cNvCxnSpPr>
          <p:nvPr/>
        </p:nvCxnSpPr>
        <p:spPr>
          <a:xfrm flipV="1">
            <a:off x="1771000" y="5608875"/>
            <a:ext cx="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화살표"/>
          <p:cNvCxnSpPr>
            <a:cxnSpLocks/>
            <a:stCxn id="16" idx="0"/>
            <a:endCxn id="11" idx="2"/>
          </p:cNvCxnSpPr>
          <p:nvPr/>
        </p:nvCxnSpPr>
        <p:spPr>
          <a:xfrm flipV="1">
            <a:off x="4366000" y="3092625"/>
            <a:ext cx="1730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화살표"/>
          <p:cNvCxnSpPr>
            <a:cxnSpLocks/>
            <a:stCxn id="17" idx="0"/>
            <a:endCxn id="16" idx="2"/>
          </p:cNvCxnSpPr>
          <p:nvPr/>
        </p:nvCxnSpPr>
        <p:spPr>
          <a:xfrm flipV="1">
            <a:off x="3501000" y="3883750"/>
            <a:ext cx="865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화살표"/>
          <p:cNvCxnSpPr>
            <a:cxnSpLocks/>
            <a:stCxn id="18" idx="0"/>
            <a:endCxn id="16" idx="2"/>
          </p:cNvCxnSpPr>
          <p:nvPr/>
        </p:nvCxnSpPr>
        <p:spPr>
          <a:xfrm flipH="1" flipV="1">
            <a:off x="4366000" y="3883750"/>
            <a:ext cx="865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화살표"/>
          <p:cNvCxnSpPr>
            <a:cxnSpLocks/>
            <a:stCxn id="19" idx="0"/>
            <a:endCxn id="11" idx="2"/>
          </p:cNvCxnSpPr>
          <p:nvPr/>
        </p:nvCxnSpPr>
        <p:spPr>
          <a:xfrm flipH="1" flipV="1">
            <a:off x="6096000" y="3092625"/>
            <a:ext cx="1730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화살표"/>
          <p:cNvCxnSpPr>
            <a:cxnSpLocks/>
            <a:stCxn id="20" idx="0"/>
            <a:endCxn id="19" idx="2"/>
          </p:cNvCxnSpPr>
          <p:nvPr/>
        </p:nvCxnSpPr>
        <p:spPr>
          <a:xfrm flipV="1">
            <a:off x="6961000" y="3883750"/>
            <a:ext cx="865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화살표"/>
          <p:cNvCxnSpPr>
            <a:cxnSpLocks/>
            <a:stCxn id="21" idx="0"/>
            <a:endCxn id="19" idx="2"/>
          </p:cNvCxnSpPr>
          <p:nvPr/>
        </p:nvCxnSpPr>
        <p:spPr>
          <a:xfrm flipH="1" flipV="1">
            <a:off x="7826000" y="3883750"/>
            <a:ext cx="865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화살표"/>
          <p:cNvCxnSpPr>
            <a:cxnSpLocks/>
            <a:stCxn id="22" idx="0"/>
            <a:endCxn id="11" idx="2"/>
          </p:cNvCxnSpPr>
          <p:nvPr/>
        </p:nvCxnSpPr>
        <p:spPr>
          <a:xfrm flipH="1" flipV="1">
            <a:off x="6096000" y="3092625"/>
            <a:ext cx="4325000" cy="27537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29"/>
          <p:cNvSpPr txBox="1"/>
          <p:nvPr/>
        </p:nvSpPr>
        <p:spPr>
          <a:xfrm>
            <a:off x="7620000" y="5074875"/>
            <a:ext cx="4064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sz="1200" b="0">
                <a:solidFill>
                  <a:srgbClr val="4A5568"/>
                </a:solidFill>
                <a:latin typeface="Pretendard"/>
              </a:rPr>
              <a:t>목적: 내 1년을 설계해주는 언니. 하루가 쌓여 1년이 되고, 1년이 쌓여 10년 뒤의 나를 만든다.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sz="1200" b="0">
                <a:solidFill>
                  <a:srgbClr val="4A5568"/>
                </a:solidFill>
                <a:latin typeface="Pretendard"/>
              </a:rPr>
              <a:t>선택한 실험: 연간 예산 안에서 역산한 꼭 필요한 시술·홈케어 루틴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sz="1200" b="0">
                <a:solidFill>
                  <a:srgbClr val="4A5568"/>
                </a:solidFill>
                <a:latin typeface="Pretendard"/>
              </a:rPr>
              <a:t>점선 상자는 아직 하지 않지만 새로 찾은 일(how)입니다.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800" b="1">
                <a:solidFill>
                  <a:srgbClr val="2F6B4F"/>
                </a:solidFill>
                <a:latin typeface="Pretendard"/>
              </a:rPr>
              <a:t>WhyTree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1249" y="508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6A7179"/>
                </a:solidFill>
                <a:latin typeface="Pretendard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300">
                <a:solidFill>
                  <a:srgbClr val="1F2A2E"/>
                </a:solidFill>
                <a:latin typeface="Pretendard"/>
              </a:rPr>
              <a:t>solbi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100" b="0">
                <a:solidFill>
                  <a:srgbClr val="6A7179"/>
                </a:solidFill>
                <a:latin typeface="Pretendard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300">
                <a:solidFill>
                  <a:srgbClr val="1F2A2E"/>
                </a:solidFill>
                <a:latin typeface="Pretendard"/>
              </a:rPr>
              <a:t>2026-10-25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952500"/>
            <a:ext cx="571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sz="1500" b="1">
                <a:solidFill>
                  <a:srgbClr val="2F6B4F"/>
                </a:solidFill>
                <a:latin typeface="Pretendard"/>
              </a:rPr>
              <a:t>October 2026</a:t>
            </a:r>
          </a:p>
        </p:txBody>
      </p:sp>
      <p:sp>
        <p:nvSpPr>
          <p:cNvPr id="10" name="seed: 이직 후 잘 해내고 싶다"/>
          <p:cNvSpPr/>
          <p:nvPr/>
        </p:nvSpPr>
        <p:spPr>
          <a:xfrm>
            <a:off x="1942604" y="5040550"/>
            <a:ext cx="1884792" cy="508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이직 후 잘 해내고 싶다</a:t>
            </a:r>
          </a:p>
        </p:txBody>
      </p:sp>
      <p:sp>
        <p:nvSpPr>
          <p:cNvPr id="11" name="seed: 시간이 짧다"/>
          <p:cNvSpPr/>
          <p:nvPr/>
        </p:nvSpPr>
        <p:spPr>
          <a:xfrm>
            <a:off x="5072972" y="3337650"/>
            <a:ext cx="1150000" cy="5080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시간이 짧다</a:t>
            </a:r>
          </a:p>
        </p:txBody>
      </p:sp>
      <p:sp>
        <p:nvSpPr>
          <p:cNvPr id="12" name="why: 갈 길을 잃지 않으려고"/>
          <p:cNvSpPr/>
          <p:nvPr/>
        </p:nvSpPr>
        <p:spPr>
          <a:xfrm>
            <a:off x="1969020" y="4189100"/>
            <a:ext cx="1831960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갈 길을 잃지 않으려고</a:t>
            </a:r>
          </a:p>
        </p:txBody>
      </p:sp>
      <p:sp>
        <p:nvSpPr>
          <p:cNvPr id="13" name="why: 내 기준(Bar)에 맞게 살기"/>
          <p:cNvSpPr/>
          <p:nvPr/>
        </p:nvSpPr>
        <p:spPr>
          <a:xfrm>
            <a:off x="1817128" y="3337650"/>
            <a:ext cx="2135744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내 기준(Bar)에 맞게 살기</a:t>
            </a:r>
          </a:p>
        </p:txBody>
      </p:sp>
      <p:sp>
        <p:nvSpPr>
          <p:cNvPr id="14" name="why: 효능감이 중요한 사람"/>
          <p:cNvSpPr/>
          <p:nvPr/>
        </p:nvSpPr>
        <p:spPr>
          <a:xfrm>
            <a:off x="1995436" y="2351450"/>
            <a:ext cx="1779128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효능감이 중요한 사람</a:t>
            </a:r>
          </a:p>
        </p:txBody>
      </p:sp>
      <p:sp>
        <p:nvSpPr>
          <p:cNvPr id="15" name="why: 내가 가진 가능성과 능력을 잃는 것이 두렵다"/>
          <p:cNvSpPr/>
          <p:nvPr/>
        </p:nvSpPr>
        <p:spPr>
          <a:xfrm>
            <a:off x="4347972" y="2351450"/>
            <a:ext cx="2600000" cy="642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내가 가진 가능성과 능력을 잃는 것이 두렵다</a:t>
            </a:r>
          </a:p>
        </p:txBody>
      </p:sp>
      <p:sp>
        <p:nvSpPr>
          <p:cNvPr id="16" name="why: 성취의 스트림"/>
          <p:cNvSpPr/>
          <p:nvPr/>
        </p:nvSpPr>
        <p:spPr>
          <a:xfrm>
            <a:off x="3641082" y="1500000"/>
            <a:ext cx="1250808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성취의 스트림</a:t>
            </a:r>
          </a:p>
        </p:txBody>
      </p:sp>
      <p:sp>
        <p:nvSpPr>
          <p:cNvPr id="17" name="how: 매주 흐름과 우선순위 정리하기"/>
          <p:cNvSpPr/>
          <p:nvPr/>
        </p:nvSpPr>
        <p:spPr>
          <a:xfrm>
            <a:off x="1652028" y="5892000"/>
            <a:ext cx="2465944" cy="50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>
                <a:solidFill>
                  <a:srgbClr val="1F2A2E"/>
                </a:solidFill>
                <a:latin typeface="Pretendard"/>
              </a:rPr>
              <a:t>매주 흐름과 우선순위 정리하기</a:t>
            </a:r>
          </a:p>
        </p:txBody>
      </p:sp>
      <p:cxnSp>
        <p:nvCxnSpPr>
          <p:cNvPr id="18" name="화살표"/>
          <p:cNvCxnSpPr>
            <a:cxnSpLocks/>
            <a:stCxn id="10" idx="0"/>
            <a:endCxn id="12" idx="2"/>
          </p:cNvCxnSpPr>
          <p:nvPr/>
        </p:nvCxnSpPr>
        <p:spPr>
          <a:xfrm flipV="1">
            <a:off x="2885000" y="4697100"/>
            <a:ext cx="0" cy="34345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화살표"/>
          <p:cNvCxnSpPr>
            <a:cxnSpLocks/>
            <a:stCxn id="11" idx="0"/>
            <a:endCxn id="15" idx="2"/>
          </p:cNvCxnSpPr>
          <p:nvPr/>
        </p:nvCxnSpPr>
        <p:spPr>
          <a:xfrm flipV="1">
            <a:off x="5647972" y="2994200"/>
            <a:ext cx="0" cy="34345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화살표"/>
          <p:cNvCxnSpPr>
            <a:cxnSpLocks/>
            <a:stCxn id="12" idx="0"/>
            <a:endCxn id="13" idx="2"/>
          </p:cNvCxnSpPr>
          <p:nvPr/>
        </p:nvCxnSpPr>
        <p:spPr>
          <a:xfrm flipV="1">
            <a:off x="2885000" y="3845650"/>
            <a:ext cx="0" cy="34345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화살표"/>
          <p:cNvCxnSpPr>
            <a:cxnSpLocks/>
            <a:stCxn id="13" idx="0"/>
            <a:endCxn id="14" idx="2"/>
          </p:cNvCxnSpPr>
          <p:nvPr/>
        </p:nvCxnSpPr>
        <p:spPr>
          <a:xfrm flipV="1">
            <a:off x="2885000" y="2859450"/>
            <a:ext cx="0" cy="4782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화살표"/>
          <p:cNvCxnSpPr>
            <a:cxnSpLocks/>
            <a:stCxn id="14" idx="0"/>
            <a:endCxn id="16" idx="2"/>
          </p:cNvCxnSpPr>
          <p:nvPr/>
        </p:nvCxnSpPr>
        <p:spPr>
          <a:xfrm flipV="1">
            <a:off x="2885000" y="2008000"/>
            <a:ext cx="1381486" cy="34345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화살표"/>
          <p:cNvCxnSpPr>
            <a:cxnSpLocks/>
            <a:stCxn id="15" idx="0"/>
            <a:endCxn id="16" idx="2"/>
          </p:cNvCxnSpPr>
          <p:nvPr/>
        </p:nvCxnSpPr>
        <p:spPr>
          <a:xfrm flipH="1" flipV="1">
            <a:off x="4266486" y="2008000"/>
            <a:ext cx="1381486" cy="34345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화살표"/>
          <p:cNvCxnSpPr>
            <a:cxnSpLocks/>
            <a:stCxn id="17" idx="0"/>
            <a:endCxn id="10" idx="2"/>
          </p:cNvCxnSpPr>
          <p:nvPr/>
        </p:nvCxnSpPr>
        <p:spPr>
          <a:xfrm flipV="1">
            <a:off x="2885000" y="5548550"/>
            <a:ext cx="0" cy="34345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9"/>
          <p:cNvSpPr txBox="1"/>
          <p:nvPr/>
        </p:nvSpPr>
        <p:spPr>
          <a:xfrm>
            <a:off x="7620000" y="4318000"/>
            <a:ext cx="4064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sz="1200" b="0">
                <a:solidFill>
                  <a:srgbClr val="4A5568"/>
                </a:solidFill>
                <a:latin typeface="Pretendard"/>
              </a:rPr>
              <a:t>선택한 실험: 매주 흐름과 우선순위 정리하기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ko-KR" sz="1200" b="0">
                <a:solidFill>
                  <a:srgbClr val="4A5568"/>
                </a:solidFill>
                <a:latin typeface="Pretendard"/>
              </a:rPr>
              <a:t>점선 상자는 아직 하지 않지만 새로 찾은 일(how)입니다.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Pretendard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 Soo Yi</cp:lastModifiedBy>
  <cp:revision>4</cp:revision>
  <dcterms:created xsi:type="dcterms:W3CDTF">2013-01-27T09:14:16Z</dcterms:created>
  <dcterms:modified xsi:type="dcterms:W3CDTF">2026-10-16T23:12:43Z</dcterms:modified>
  <cp:category/>
</cp:coreProperties>
</file>