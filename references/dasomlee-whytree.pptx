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6400" y="254000"/>
            <a:ext cx="1905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2F6B4F"/>
                </a:solidFill>
                <a:latin typeface="Pretendard"/>
              </a:rPr>
              <a:t>WhyTree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2238" y="251012"/>
            <a:ext cx="1751076" cy="2829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ko-KR" sz="1600" b="1" dirty="0">
                <a:solidFill>
                  <a:srgbClr val="6A7179"/>
                </a:solidFill>
                <a:latin typeface="Pretendard"/>
              </a:rPr>
              <a:t>20259537</a:t>
            </a:r>
            <a:r>
              <a:rPr lang="ko-KR" altLang="en-US" sz="1600" b="1" dirty="0">
                <a:solidFill>
                  <a:srgbClr val="6A7179"/>
                </a:solidFill>
                <a:latin typeface="Pretendard"/>
              </a:rPr>
              <a:t> 이다솜</a:t>
            </a:r>
            <a:endParaRPr sz="1600" b="1" dirty="0">
              <a:solidFill>
                <a:srgbClr val="6A7179"/>
              </a:solidFill>
              <a:latin typeface="Pretendar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06400" y="640080"/>
            <a:ext cx="11379200" cy="2653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dirty="0">
                <a:solidFill>
                  <a:srgbClr val="2F6B4F"/>
                </a:solidFill>
                <a:latin typeface="Pretendard"/>
              </a:rPr>
              <a:t>4조 </a:t>
            </a:r>
            <a:r>
              <a:rPr sz="1500" b="1" dirty="0" err="1">
                <a:solidFill>
                  <a:srgbClr val="2F6B4F"/>
                </a:solidFill>
                <a:latin typeface="Pretendard"/>
              </a:rPr>
              <a:t>임사이드아웃</a:t>
            </a:r>
            <a:r>
              <a:rPr lang="en-US" altLang="ko-KR" sz="1500" b="1" dirty="0">
                <a:solidFill>
                  <a:srgbClr val="2F6B4F"/>
                </a:solidFill>
                <a:latin typeface="Pretendard"/>
              </a:rPr>
              <a:t>:</a:t>
            </a:r>
            <a:r>
              <a:rPr lang="ko-KR" altLang="en-US" sz="1500" b="1" dirty="0">
                <a:solidFill>
                  <a:srgbClr val="2F6B4F"/>
                </a:solidFill>
                <a:latin typeface="Pretendard"/>
              </a:rPr>
              <a:t> </a:t>
            </a:r>
            <a:r>
              <a:rPr sz="1500" b="1" dirty="0">
                <a:solidFill>
                  <a:srgbClr val="2F6B4F"/>
                </a:solidFill>
                <a:latin typeface="Pretendard"/>
              </a:rPr>
              <a:t>AI </a:t>
            </a:r>
            <a:r>
              <a:rPr sz="1500" b="1" dirty="0" err="1">
                <a:solidFill>
                  <a:srgbClr val="2F6B4F"/>
                </a:solidFill>
                <a:latin typeface="Pretendard"/>
              </a:rPr>
              <a:t>피부관리</a:t>
            </a:r>
            <a:r>
              <a:rPr sz="1500" b="1" dirty="0">
                <a:solidFill>
                  <a:srgbClr val="2F6B4F"/>
                </a:solidFill>
                <a:latin typeface="Pretendard"/>
              </a:rPr>
              <a:t> </a:t>
            </a:r>
            <a:r>
              <a:rPr sz="1500" b="1" dirty="0" err="1">
                <a:solidFill>
                  <a:srgbClr val="2F6B4F"/>
                </a:solidFill>
                <a:latin typeface="Pretendard"/>
              </a:rPr>
              <a:t>서비스의</a:t>
            </a:r>
            <a:r>
              <a:rPr sz="1500" b="1" dirty="0">
                <a:solidFill>
                  <a:srgbClr val="2F6B4F"/>
                </a:solidFill>
                <a:latin typeface="Pretendard"/>
              </a:rPr>
              <a:t> </a:t>
            </a:r>
            <a:r>
              <a:rPr sz="1500" b="1" dirty="0" err="1">
                <a:solidFill>
                  <a:srgbClr val="2F6B4F"/>
                </a:solidFill>
                <a:latin typeface="Pretendard"/>
              </a:rPr>
              <a:t>WhyTree</a:t>
            </a:r>
            <a:endParaRPr sz="1500" b="1" dirty="0">
              <a:solidFill>
                <a:srgbClr val="2F6B4F"/>
              </a:solidFill>
              <a:latin typeface="Pretendard"/>
            </a:endParaRPr>
          </a:p>
        </p:txBody>
      </p:sp>
      <p:sp>
        <p:nvSpPr>
          <p:cNvPr id="10" name="why: 내가 만족하는 피부 상태를 오래 유지하기"/>
          <p:cNvSpPr/>
          <p:nvPr/>
        </p:nvSpPr>
        <p:spPr>
          <a:xfrm>
            <a:off x="4178808" y="1463040"/>
            <a:ext cx="384048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ko-KR" altLang="en-US" sz="1300" b="1" dirty="0">
                <a:solidFill>
                  <a:srgbClr val="1F2A2E"/>
                </a:solidFill>
                <a:latin typeface="Pretendard"/>
                <a:ea typeface="Pretendard"/>
              </a:rPr>
              <a:t>내가 만족하는 피부 상태를 오래 유지하기</a:t>
            </a:r>
          </a:p>
        </p:txBody>
      </p:sp>
      <p:sp>
        <p:nvSpPr>
          <p:cNvPr id="11" name="why: 시술 결과에 대한 확신"/>
          <p:cNvSpPr/>
          <p:nvPr/>
        </p:nvSpPr>
        <p:spPr>
          <a:xfrm>
            <a:off x="2971800" y="2514600"/>
            <a:ext cx="219456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ko-KR" altLang="en-US" sz="1200" b="1" dirty="0">
                <a:solidFill>
                  <a:srgbClr val="1F2A2E"/>
                </a:solidFill>
                <a:latin typeface="Pretendard"/>
                <a:ea typeface="Pretendard"/>
              </a:rPr>
              <a:t>시술 결과에 대한 확신</a:t>
            </a:r>
          </a:p>
        </p:txBody>
      </p:sp>
      <p:sp>
        <p:nvSpPr>
          <p:cNvPr id="12" name="why: 나에게 맞는 시술 계획"/>
          <p:cNvSpPr/>
          <p:nvPr/>
        </p:nvSpPr>
        <p:spPr>
          <a:xfrm>
            <a:off x="7498080" y="2514600"/>
            <a:ext cx="219456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ko-KR" altLang="en-US" sz="1200" b="1" dirty="0">
                <a:solidFill>
                  <a:srgbClr val="1F2A2E"/>
                </a:solidFill>
                <a:latin typeface="Pretendard"/>
                <a:ea typeface="Pretendard"/>
              </a:rPr>
              <a:t>나에게 맞는 시술 계획</a:t>
            </a:r>
          </a:p>
        </p:txBody>
      </p:sp>
      <p:sp>
        <p:nvSpPr>
          <p:cNvPr id="13" name="why: 회복 불안 줄이기"/>
          <p:cNvSpPr/>
          <p:nvPr/>
        </p:nvSpPr>
        <p:spPr>
          <a:xfrm>
            <a:off x="1751076" y="3566160"/>
            <a:ext cx="160020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ko-KR" altLang="en-US" sz="1200" b="1" dirty="0">
                <a:solidFill>
                  <a:srgbClr val="1F2A2E"/>
                </a:solidFill>
                <a:latin typeface="Pretendard"/>
                <a:ea typeface="Pretendard"/>
              </a:rPr>
              <a:t>회복 기간 동안 불안 줄이기</a:t>
            </a:r>
          </a:p>
        </p:txBody>
      </p:sp>
      <p:sp>
        <p:nvSpPr>
          <p:cNvPr id="14" name="why: 실제 효과 확인하기"/>
          <p:cNvSpPr/>
          <p:nvPr/>
        </p:nvSpPr>
        <p:spPr>
          <a:xfrm>
            <a:off x="4777740" y="3566160"/>
            <a:ext cx="160020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ko-KR" altLang="en-US" sz="1200" b="1" dirty="0">
                <a:solidFill>
                  <a:srgbClr val="1F2A2E"/>
                </a:solidFill>
                <a:latin typeface="Pretendard"/>
                <a:ea typeface="Pretendard"/>
              </a:rPr>
              <a:t>실제 효과 확인하기</a:t>
            </a:r>
          </a:p>
        </p:txBody>
      </p:sp>
      <p:sp>
        <p:nvSpPr>
          <p:cNvPr id="15" name="new: D-Day 역산 시술 일정"/>
          <p:cNvSpPr/>
          <p:nvPr/>
        </p:nvSpPr>
        <p:spPr>
          <a:xfrm>
            <a:off x="6469380" y="3566160"/>
            <a:ext cx="160020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F6B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ko-KR" altLang="en-US" sz="1100" b="1" dirty="0" err="1">
                <a:solidFill>
                  <a:srgbClr val="1F2A2E"/>
                </a:solidFill>
                <a:latin typeface="Pretendard"/>
                <a:ea typeface="Pretendard"/>
              </a:rPr>
              <a:t>D-Day</a:t>
            </a:r>
            <a:r>
              <a:rPr lang="ko-KR" altLang="en-US" sz="1100" b="1" dirty="0">
                <a:solidFill>
                  <a:srgbClr val="1F2A2E"/>
                </a:solidFill>
                <a:latin typeface="Pretendard"/>
                <a:ea typeface="Pretendard"/>
              </a:rPr>
              <a:t> 역산 시술 일정</a:t>
            </a:r>
          </a:p>
        </p:txBody>
      </p:sp>
      <p:sp>
        <p:nvSpPr>
          <p:cNvPr id="16" name="why: 다음 시술 시점 판단"/>
          <p:cNvSpPr/>
          <p:nvPr/>
        </p:nvSpPr>
        <p:spPr>
          <a:xfrm>
            <a:off x="8161020" y="3566160"/>
            <a:ext cx="160020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ko-KR" altLang="en-US" sz="1200" b="1" dirty="0">
                <a:solidFill>
                  <a:srgbClr val="1F2A2E"/>
                </a:solidFill>
                <a:latin typeface="Pretendard"/>
                <a:ea typeface="Pretendard"/>
              </a:rPr>
              <a:t>다음 시술 시점 판단</a:t>
            </a:r>
          </a:p>
        </p:txBody>
      </p:sp>
      <p:sp>
        <p:nvSpPr>
          <p:cNvPr id="17" name="why: 외부 권유에 휘둘리지 않는 결정"/>
          <p:cNvSpPr/>
          <p:nvPr/>
        </p:nvSpPr>
        <p:spPr>
          <a:xfrm>
            <a:off x="9944100" y="3566160"/>
            <a:ext cx="160020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ko-KR" altLang="en-US" sz="1100" b="1" dirty="0">
                <a:solidFill>
                  <a:srgbClr val="1F2A2E"/>
                </a:solidFill>
                <a:latin typeface="Pretendard"/>
                <a:ea typeface="Pretendard"/>
              </a:rPr>
              <a:t>타인의 의견에 휘둘리지 않는 결정</a:t>
            </a:r>
          </a:p>
        </p:txBody>
      </p:sp>
      <p:sp>
        <p:nvSpPr>
          <p:cNvPr id="18" name="new: 회복 단계별 체크 알림"/>
          <p:cNvSpPr/>
          <p:nvPr/>
        </p:nvSpPr>
        <p:spPr>
          <a:xfrm>
            <a:off x="484632" y="4663440"/>
            <a:ext cx="1298448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F6B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ko-KR" altLang="en-US" sz="1100" b="1">
                <a:solidFill>
                  <a:srgbClr val="1F2A2E"/>
                </a:solidFill>
                <a:latin typeface="Pretendard"/>
                <a:ea typeface="Pretendard"/>
              </a:rPr>
              <a:t>회복 단계별 체크 알림</a:t>
            </a:r>
          </a:p>
        </p:txBody>
      </p:sp>
      <p:sp>
        <p:nvSpPr>
          <p:cNvPr id="19" name="seed: 회복 정상 여부 안내"/>
          <p:cNvSpPr/>
          <p:nvPr/>
        </p:nvSpPr>
        <p:spPr>
          <a:xfrm>
            <a:off x="1901952" y="4663440"/>
            <a:ext cx="1298448" cy="502920"/>
          </a:xfrm>
          <a:prstGeom prst="roundRect">
            <a:avLst>
              <a:gd name="adj" fmla="val 6000"/>
            </a:avLst>
          </a:prstGeom>
          <a:solidFill>
            <a:srgbClr val="F6EBDD"/>
          </a:solidFill>
          <a:ln w="31750">
            <a:solidFill>
              <a:srgbClr val="C87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ko-KR" altLang="en-US" sz="1100" b="1">
                <a:solidFill>
                  <a:srgbClr val="1F2A2E"/>
                </a:solidFill>
                <a:latin typeface="Pretendard"/>
                <a:ea typeface="Pretendard"/>
              </a:rPr>
              <a:t>회복 정상 여부 안내</a:t>
            </a:r>
          </a:p>
        </p:txBody>
      </p:sp>
      <p:sp>
        <p:nvSpPr>
          <p:cNvPr id="20" name="seed: 회복 사진 기록"/>
          <p:cNvSpPr/>
          <p:nvPr/>
        </p:nvSpPr>
        <p:spPr>
          <a:xfrm>
            <a:off x="3319272" y="4663440"/>
            <a:ext cx="1298448" cy="502920"/>
          </a:xfrm>
          <a:prstGeom prst="roundRect">
            <a:avLst>
              <a:gd name="adj" fmla="val 6000"/>
            </a:avLst>
          </a:prstGeom>
          <a:solidFill>
            <a:srgbClr val="F6EBDD"/>
          </a:solidFill>
          <a:ln w="31750">
            <a:solidFill>
              <a:srgbClr val="C87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ko-KR" altLang="en-US" sz="1100" b="1">
                <a:solidFill>
                  <a:srgbClr val="1F2A2E"/>
                </a:solidFill>
                <a:latin typeface="Pretendard"/>
                <a:ea typeface="Pretendard"/>
              </a:rPr>
              <a:t>회복 사진 기록</a:t>
            </a:r>
          </a:p>
        </p:txBody>
      </p:sp>
      <p:sp>
        <p:nvSpPr>
          <p:cNvPr id="21" name="seed: 시술 전후 사진 비교"/>
          <p:cNvSpPr/>
          <p:nvPr/>
        </p:nvSpPr>
        <p:spPr>
          <a:xfrm>
            <a:off x="4736592" y="4663440"/>
            <a:ext cx="1298448" cy="502920"/>
          </a:xfrm>
          <a:prstGeom prst="roundRect">
            <a:avLst>
              <a:gd name="adj" fmla="val 6000"/>
            </a:avLst>
          </a:prstGeom>
          <a:solidFill>
            <a:srgbClr val="F6EBDD"/>
          </a:solidFill>
          <a:ln w="31750">
            <a:solidFill>
              <a:srgbClr val="C87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ko-KR" altLang="en-US" sz="1100" b="1">
                <a:solidFill>
                  <a:srgbClr val="1F2A2E"/>
                </a:solidFill>
                <a:latin typeface="Pretendard"/>
                <a:ea typeface="Pretendard"/>
              </a:rPr>
              <a:t>시술 전후 사진 비교</a:t>
            </a:r>
          </a:p>
        </p:txBody>
      </p:sp>
      <p:sp>
        <p:nvSpPr>
          <p:cNvPr id="22" name="new: 촬영 조건 가이드"/>
          <p:cNvSpPr/>
          <p:nvPr/>
        </p:nvSpPr>
        <p:spPr>
          <a:xfrm>
            <a:off x="6153912" y="4663440"/>
            <a:ext cx="1298448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F6B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ko-KR" altLang="en-US" sz="1100" b="1">
                <a:solidFill>
                  <a:srgbClr val="1F2A2E"/>
                </a:solidFill>
                <a:latin typeface="Pretendard"/>
                <a:ea typeface="Pretendard"/>
              </a:rPr>
              <a:t>촬영 조건 가이드</a:t>
            </a:r>
          </a:p>
        </p:txBody>
      </p:sp>
      <p:sp>
        <p:nvSpPr>
          <p:cNvPr id="23" name="seed: 시술 이력 기록"/>
          <p:cNvSpPr/>
          <p:nvPr/>
        </p:nvSpPr>
        <p:spPr>
          <a:xfrm>
            <a:off x="7571232" y="4663440"/>
            <a:ext cx="1298448" cy="502920"/>
          </a:xfrm>
          <a:prstGeom prst="roundRect">
            <a:avLst>
              <a:gd name="adj" fmla="val 6000"/>
            </a:avLst>
          </a:prstGeom>
          <a:solidFill>
            <a:srgbClr val="F6EBDD"/>
          </a:solidFill>
          <a:ln w="31750">
            <a:solidFill>
              <a:srgbClr val="C87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ko-KR" altLang="en-US" sz="1100" b="1">
                <a:solidFill>
                  <a:srgbClr val="1F2A2E"/>
                </a:solidFill>
                <a:latin typeface="Pretendard"/>
                <a:ea typeface="Pretendard"/>
              </a:rPr>
              <a:t>시술 이력 기록</a:t>
            </a:r>
          </a:p>
        </p:txBody>
      </p:sp>
      <p:sp>
        <p:nvSpPr>
          <p:cNvPr id="24" name="new: 효과 감소 시점 알림"/>
          <p:cNvSpPr/>
          <p:nvPr/>
        </p:nvSpPr>
        <p:spPr>
          <a:xfrm>
            <a:off x="8988552" y="4663440"/>
            <a:ext cx="1298448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F6B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ko-KR" altLang="en-US" sz="1100" b="1">
                <a:solidFill>
                  <a:srgbClr val="1F2A2E"/>
                </a:solidFill>
                <a:latin typeface="Pretendard"/>
                <a:ea typeface="Pretendard"/>
              </a:rPr>
              <a:t>효과 감소 시점 알림</a:t>
            </a:r>
          </a:p>
        </p:txBody>
      </p:sp>
      <p:sp>
        <p:nvSpPr>
          <p:cNvPr id="25" name="seed: 또래 시술 현황"/>
          <p:cNvSpPr/>
          <p:nvPr/>
        </p:nvSpPr>
        <p:spPr>
          <a:xfrm>
            <a:off x="10405872" y="4663440"/>
            <a:ext cx="1298448" cy="502920"/>
          </a:xfrm>
          <a:prstGeom prst="roundRect">
            <a:avLst>
              <a:gd name="adj" fmla="val 6000"/>
            </a:avLst>
          </a:prstGeom>
          <a:solidFill>
            <a:srgbClr val="F6EBDD"/>
          </a:solidFill>
          <a:ln w="31750">
            <a:solidFill>
              <a:srgbClr val="C87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ko-KR" altLang="en-US" sz="1100" b="1">
                <a:solidFill>
                  <a:srgbClr val="1F2A2E"/>
                </a:solidFill>
                <a:latin typeface="Pretendard"/>
                <a:ea typeface="Pretendard"/>
              </a:rPr>
              <a:t>또래 시술 현황</a:t>
            </a:r>
          </a:p>
        </p:txBody>
      </p:sp>
      <p:cxnSp>
        <p:nvCxnSpPr>
          <p:cNvPr id="26" name="화살표"/>
          <p:cNvCxnSpPr>
            <a:cxnSpLocks/>
            <a:stCxn id="11" idx="0"/>
            <a:endCxn id="10" idx="2"/>
          </p:cNvCxnSpPr>
          <p:nvPr/>
        </p:nvCxnSpPr>
        <p:spPr>
          <a:xfrm flipV="1">
            <a:off x="4069080" y="1965960"/>
            <a:ext cx="2029968" cy="54864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화살표"/>
          <p:cNvCxnSpPr>
            <a:cxnSpLocks/>
            <a:stCxn id="12" idx="0"/>
            <a:endCxn id="10" idx="2"/>
          </p:cNvCxnSpPr>
          <p:nvPr/>
        </p:nvCxnSpPr>
        <p:spPr>
          <a:xfrm flipH="1" flipV="1">
            <a:off x="6099048" y="1965960"/>
            <a:ext cx="2496312" cy="54864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화살표"/>
          <p:cNvCxnSpPr>
            <a:cxnSpLocks/>
            <a:stCxn id="13" idx="0"/>
            <a:endCxn id="11" idx="2"/>
          </p:cNvCxnSpPr>
          <p:nvPr/>
        </p:nvCxnSpPr>
        <p:spPr>
          <a:xfrm flipV="1">
            <a:off x="2551176" y="3017520"/>
            <a:ext cx="1517904" cy="54864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화살표"/>
          <p:cNvCxnSpPr>
            <a:cxnSpLocks/>
            <a:stCxn id="14" idx="0"/>
            <a:endCxn id="11" idx="2"/>
          </p:cNvCxnSpPr>
          <p:nvPr/>
        </p:nvCxnSpPr>
        <p:spPr>
          <a:xfrm flipH="1" flipV="1">
            <a:off x="4069080" y="3017520"/>
            <a:ext cx="1508760" cy="54864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화살표"/>
          <p:cNvCxnSpPr>
            <a:cxnSpLocks/>
            <a:stCxn id="15" idx="0"/>
            <a:endCxn id="12" idx="2"/>
          </p:cNvCxnSpPr>
          <p:nvPr/>
        </p:nvCxnSpPr>
        <p:spPr>
          <a:xfrm flipV="1">
            <a:off x="7269480" y="3017520"/>
            <a:ext cx="1325880" cy="54864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화살표"/>
          <p:cNvCxnSpPr>
            <a:cxnSpLocks/>
            <a:stCxn id="16" idx="0"/>
            <a:endCxn id="12" idx="2"/>
          </p:cNvCxnSpPr>
          <p:nvPr/>
        </p:nvCxnSpPr>
        <p:spPr>
          <a:xfrm flipH="1" flipV="1">
            <a:off x="8595360" y="3017520"/>
            <a:ext cx="365760" cy="54864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화살표"/>
          <p:cNvCxnSpPr>
            <a:cxnSpLocks/>
            <a:stCxn id="17" idx="0"/>
            <a:endCxn id="12" idx="2"/>
          </p:cNvCxnSpPr>
          <p:nvPr/>
        </p:nvCxnSpPr>
        <p:spPr>
          <a:xfrm flipH="1" flipV="1">
            <a:off x="8595360" y="3017520"/>
            <a:ext cx="2148840" cy="54864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화살표"/>
          <p:cNvCxnSpPr>
            <a:cxnSpLocks/>
            <a:stCxn id="18" idx="0"/>
            <a:endCxn id="13" idx="2"/>
          </p:cNvCxnSpPr>
          <p:nvPr/>
        </p:nvCxnSpPr>
        <p:spPr>
          <a:xfrm flipV="1">
            <a:off x="1133856" y="4069080"/>
            <a:ext cx="1417320" cy="59436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화살표"/>
          <p:cNvCxnSpPr>
            <a:cxnSpLocks/>
            <a:stCxn id="19" idx="0"/>
            <a:endCxn id="13" idx="2"/>
          </p:cNvCxnSpPr>
          <p:nvPr/>
        </p:nvCxnSpPr>
        <p:spPr>
          <a:xfrm flipV="1">
            <a:off x="2551176" y="4069080"/>
            <a:ext cx="0" cy="59436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화살표"/>
          <p:cNvCxnSpPr>
            <a:cxnSpLocks/>
            <a:stCxn id="20" idx="0"/>
            <a:endCxn id="13" idx="2"/>
          </p:cNvCxnSpPr>
          <p:nvPr/>
        </p:nvCxnSpPr>
        <p:spPr>
          <a:xfrm flipH="1" flipV="1">
            <a:off x="2551176" y="4069080"/>
            <a:ext cx="1417320" cy="59436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화살표"/>
          <p:cNvCxnSpPr>
            <a:cxnSpLocks/>
            <a:stCxn id="21" idx="0"/>
            <a:endCxn id="14" idx="2"/>
          </p:cNvCxnSpPr>
          <p:nvPr/>
        </p:nvCxnSpPr>
        <p:spPr>
          <a:xfrm flipV="1">
            <a:off x="5385816" y="4069080"/>
            <a:ext cx="192024" cy="59436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화살표"/>
          <p:cNvCxnSpPr>
            <a:cxnSpLocks/>
            <a:stCxn id="22" idx="0"/>
            <a:endCxn id="14" idx="2"/>
          </p:cNvCxnSpPr>
          <p:nvPr/>
        </p:nvCxnSpPr>
        <p:spPr>
          <a:xfrm flipH="1" flipV="1">
            <a:off x="5577840" y="4069080"/>
            <a:ext cx="1225296" cy="59436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화살표"/>
          <p:cNvCxnSpPr>
            <a:cxnSpLocks/>
            <a:stCxn id="23" idx="0"/>
            <a:endCxn id="16" idx="2"/>
          </p:cNvCxnSpPr>
          <p:nvPr/>
        </p:nvCxnSpPr>
        <p:spPr>
          <a:xfrm flipV="1">
            <a:off x="8220456" y="4069080"/>
            <a:ext cx="740664" cy="59436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화살표"/>
          <p:cNvCxnSpPr>
            <a:cxnSpLocks/>
            <a:stCxn id="24" idx="0"/>
            <a:endCxn id="16" idx="2"/>
          </p:cNvCxnSpPr>
          <p:nvPr/>
        </p:nvCxnSpPr>
        <p:spPr>
          <a:xfrm flipH="1" flipV="1">
            <a:off x="8961120" y="4069080"/>
            <a:ext cx="676656" cy="59436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화살표"/>
          <p:cNvCxnSpPr>
            <a:cxnSpLocks/>
            <a:stCxn id="25" idx="0"/>
            <a:endCxn id="17" idx="2"/>
          </p:cNvCxnSpPr>
          <p:nvPr/>
        </p:nvCxnSpPr>
        <p:spPr>
          <a:xfrm flipH="1" flipV="1">
            <a:off x="10744200" y="4069080"/>
            <a:ext cx="310896" cy="59436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화살표 (점선: 부가적인 why)"/>
          <p:cNvCxnSpPr>
            <a:cxnSpLocks/>
            <a:stCxn id="20" idx="0"/>
            <a:endCxn id="14" idx="2"/>
          </p:cNvCxnSpPr>
          <p:nvPr/>
        </p:nvCxnSpPr>
        <p:spPr>
          <a:xfrm flipV="1">
            <a:off x="3968496" y="4069080"/>
            <a:ext cx="1609344" cy="594360"/>
          </a:xfrm>
          <a:prstGeom prst="line">
            <a:avLst/>
          </a:prstGeom>
          <a:ln w="22225">
            <a:solidFill>
              <a:srgbClr val="7FA08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화살표 (점선: 부가적인 why)"/>
          <p:cNvCxnSpPr>
            <a:cxnSpLocks/>
            <a:stCxn id="23" idx="0"/>
            <a:endCxn id="17" idx="2"/>
          </p:cNvCxnSpPr>
          <p:nvPr/>
        </p:nvCxnSpPr>
        <p:spPr>
          <a:xfrm flipV="1">
            <a:off x="8220456" y="4069080"/>
            <a:ext cx="2523744" cy="594360"/>
          </a:xfrm>
          <a:prstGeom prst="line">
            <a:avLst/>
          </a:prstGeom>
          <a:ln w="22225">
            <a:solidFill>
              <a:srgbClr val="7FA08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화살표 (점선: 부가적인 why)"/>
          <p:cNvCxnSpPr>
            <a:cxnSpLocks/>
            <a:stCxn id="14" idx="0"/>
            <a:endCxn id="12" idx="2"/>
          </p:cNvCxnSpPr>
          <p:nvPr/>
        </p:nvCxnSpPr>
        <p:spPr>
          <a:xfrm flipV="1">
            <a:off x="5577840" y="3017520"/>
            <a:ext cx="3017520" cy="548640"/>
          </a:xfrm>
          <a:prstGeom prst="line">
            <a:avLst/>
          </a:prstGeom>
          <a:ln w="22225">
            <a:solidFill>
              <a:srgbClr val="7FA08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설명"/>
          <p:cNvSpPr txBox="1"/>
          <p:nvPr/>
        </p:nvSpPr>
        <p:spPr>
          <a:xfrm>
            <a:off x="493776" y="5669280"/>
            <a:ext cx="11201400" cy="829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ko-KR" altLang="en-US" sz="1100" b="0">
                <a:solidFill>
                  <a:srgbClr val="6A7179"/>
                </a:solidFill>
                <a:latin typeface="Pretendard"/>
                <a:ea typeface="Pretendard"/>
              </a:rPr>
              <a:t>주황색 </a:t>
            </a:r>
            <a:r>
              <a:rPr lang="ko-KR" altLang="en-US" sz="1100">
                <a:solidFill>
                  <a:srgbClr val="6A7179"/>
                </a:solidFill>
                <a:latin typeface="Pretendard"/>
                <a:ea typeface="Pretendard"/>
              </a:rPr>
              <a:t>상자</a:t>
            </a:r>
            <a:r>
              <a:rPr lang="ko-KR" altLang="en-US" sz="1100" b="0" dirty="0">
                <a:solidFill>
                  <a:srgbClr val="6A7179"/>
                </a:solidFill>
                <a:latin typeface="Pretendard"/>
                <a:ea typeface="Pretendard"/>
              </a:rPr>
              <a:t>: 지금 우리 제품이 하는 일(씨앗) 다섯 가지 </a:t>
            </a:r>
            <a:endParaRPr lang="en-US" altLang="ko-KR" sz="1100" b="0" dirty="0">
              <a:solidFill>
                <a:srgbClr val="6A7179"/>
              </a:solidFill>
              <a:latin typeface="Pretendard"/>
              <a:ea typeface="Pretendard"/>
            </a:endParaRPr>
          </a:p>
          <a:p>
            <a:pPr algn="l">
              <a:lnSpc>
                <a:spcPct val="125000"/>
              </a:lnSpc>
            </a:pPr>
            <a:r>
              <a:rPr lang="ko-KR" altLang="en-US" sz="1100" b="0" dirty="0">
                <a:solidFill>
                  <a:srgbClr val="6A7179"/>
                </a:solidFill>
                <a:latin typeface="Pretendard"/>
                <a:ea typeface="Pretendard"/>
              </a:rPr>
              <a:t>점선 상자: </a:t>
            </a:r>
            <a:r>
              <a:rPr lang="ko-KR" altLang="en-US" sz="1100" b="0" dirty="0" err="1">
                <a:solidFill>
                  <a:srgbClr val="6A7179"/>
                </a:solidFill>
                <a:latin typeface="Pretendard"/>
                <a:ea typeface="Pretendard"/>
              </a:rPr>
              <a:t>How</a:t>
            </a:r>
            <a:r>
              <a:rPr lang="ko-KR" altLang="en-US" sz="1100" b="0" dirty="0">
                <a:solidFill>
                  <a:srgbClr val="6A7179"/>
                </a:solidFill>
                <a:latin typeface="Pretendard"/>
                <a:ea typeface="Pretendard"/>
              </a:rPr>
              <a:t> </a:t>
            </a:r>
            <a:r>
              <a:rPr lang="ko-KR" altLang="en-US" sz="1100" b="0" dirty="0" err="1">
                <a:solidFill>
                  <a:srgbClr val="6A7179"/>
                </a:solidFill>
                <a:latin typeface="Pretendard"/>
                <a:ea typeface="Pretendard"/>
              </a:rPr>
              <a:t>Down으로</a:t>
            </a:r>
            <a:r>
              <a:rPr lang="ko-KR" altLang="en-US" sz="1100" b="0" dirty="0">
                <a:solidFill>
                  <a:srgbClr val="6A7179"/>
                </a:solidFill>
                <a:latin typeface="Pretendard"/>
                <a:ea typeface="Pretendard"/>
              </a:rPr>
              <a:t> 새로 찾은, 아직 하지 않는 방법 </a:t>
            </a:r>
            <a:endParaRPr lang="en-US" altLang="ko-KR" sz="1100" b="0" dirty="0">
              <a:solidFill>
                <a:srgbClr val="6A7179"/>
              </a:solidFill>
              <a:latin typeface="Pretendard"/>
              <a:ea typeface="Pretendard"/>
            </a:endParaRPr>
          </a:p>
          <a:p>
            <a:pPr algn="l">
              <a:lnSpc>
                <a:spcPct val="125000"/>
              </a:lnSpc>
            </a:pPr>
            <a:r>
              <a:rPr lang="ko-KR" altLang="en-US" sz="1100" b="0" dirty="0">
                <a:solidFill>
                  <a:srgbClr val="6A7179"/>
                </a:solidFill>
                <a:latin typeface="Pretendard"/>
                <a:ea typeface="Pretendard"/>
              </a:rPr>
              <a:t>점선 화살표: 부가적인 </a:t>
            </a:r>
            <a:r>
              <a:rPr lang="ko-KR" altLang="en-US" sz="1100" b="0" dirty="0" err="1">
                <a:solidFill>
                  <a:srgbClr val="6A7179"/>
                </a:solidFill>
                <a:latin typeface="Pretendard"/>
                <a:ea typeface="Pretendard"/>
              </a:rPr>
              <a:t>why</a:t>
            </a:r>
            <a:endParaRPr lang="ko-KR" altLang="en-US" sz="1100" b="0" dirty="0">
              <a:solidFill>
                <a:srgbClr val="6A7179"/>
              </a:solidFill>
              <a:latin typeface="Pretendard"/>
              <a:ea typeface="Pretendard"/>
            </a:endParaRPr>
          </a:p>
          <a:p>
            <a:pPr algn="l">
              <a:lnSpc>
                <a:spcPct val="125000"/>
              </a:lnSpc>
            </a:pPr>
            <a:r>
              <a:rPr lang="ko-KR" altLang="en-US" sz="1100" b="0" dirty="0">
                <a:solidFill>
                  <a:srgbClr val="6A7179"/>
                </a:solidFill>
                <a:latin typeface="Pretendard"/>
                <a:ea typeface="Pretendard"/>
              </a:rPr>
              <a:t>"회복 사진 </a:t>
            </a:r>
            <a:r>
              <a:rPr lang="ko-KR" altLang="en-US" sz="1100" b="0" dirty="0" err="1">
                <a:solidFill>
                  <a:srgbClr val="6A7179"/>
                </a:solidFill>
                <a:latin typeface="Pretendard"/>
                <a:ea typeface="Pretendard"/>
              </a:rPr>
              <a:t>기록"의</a:t>
            </a:r>
            <a:r>
              <a:rPr lang="ko-KR" altLang="en-US" sz="1100" b="0" dirty="0">
                <a:solidFill>
                  <a:srgbClr val="6A7179"/>
                </a:solidFill>
                <a:latin typeface="Pretendard"/>
                <a:ea typeface="Pretendard"/>
              </a:rPr>
              <a:t> 가장 중요한 </a:t>
            </a:r>
            <a:r>
              <a:rPr lang="ko-KR" altLang="en-US" sz="1100" b="0" dirty="0" err="1">
                <a:solidFill>
                  <a:srgbClr val="6A7179"/>
                </a:solidFill>
                <a:latin typeface="Pretendard"/>
                <a:ea typeface="Pretendard"/>
              </a:rPr>
              <a:t>why는</a:t>
            </a:r>
            <a:r>
              <a:rPr lang="ko-KR" altLang="en-US" sz="1100" b="0" dirty="0">
                <a:solidFill>
                  <a:srgbClr val="6A7179"/>
                </a:solidFill>
                <a:latin typeface="Pretendard"/>
                <a:ea typeface="Pretendard"/>
              </a:rPr>
              <a:t> "회복 기간 동안 불안 줄이기"(실선)이고, "실제 효과 </a:t>
            </a:r>
            <a:r>
              <a:rPr lang="ko-KR" altLang="en-US" sz="1100" b="0" dirty="0" err="1">
                <a:solidFill>
                  <a:srgbClr val="6A7179"/>
                </a:solidFill>
                <a:latin typeface="Pretendard"/>
                <a:ea typeface="Pretendard"/>
              </a:rPr>
              <a:t>확인하기"에도</a:t>
            </a:r>
            <a:r>
              <a:rPr lang="ko-KR" altLang="en-US" sz="1100" b="0" dirty="0">
                <a:solidFill>
                  <a:srgbClr val="6A7179"/>
                </a:solidFill>
                <a:latin typeface="Pretendard"/>
                <a:ea typeface="Pretendard"/>
              </a:rPr>
              <a:t> 쓰이므로 점선으로 이었습니다.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5799B1-D5A5-D868-016C-44C1C6E6E17A}"/>
              </a:ext>
            </a:extLst>
          </p:cNvPr>
          <p:cNvSpPr txBox="1"/>
          <p:nvPr/>
        </p:nvSpPr>
        <p:spPr>
          <a:xfrm>
            <a:off x="10457121" y="247139"/>
            <a:ext cx="1642730" cy="2829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ko-KR" sz="1600" b="1" dirty="0">
                <a:solidFill>
                  <a:srgbClr val="6A7179"/>
                </a:solidFill>
                <a:latin typeface="Pretendard"/>
              </a:rPr>
              <a:t>2026/10/29</a:t>
            </a:r>
            <a:endParaRPr sz="1600" b="1" dirty="0">
              <a:solidFill>
                <a:srgbClr val="6A7179"/>
              </a:solidFill>
              <a:latin typeface="Pretendar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137</Words>
  <Application>Microsoft Macintosh PowerPoint</Application>
  <PresentationFormat>와이드스크린</PresentationFormat>
  <Paragraphs>24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Pretendard</vt:lpstr>
      <vt:lpstr>Arial</vt:lpstr>
      <vt:lpstr>Calibri</vt:lpstr>
      <vt:lpstr>Office Theme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이다솜</cp:lastModifiedBy>
  <cp:revision>7</cp:revision>
  <dcterms:created xsi:type="dcterms:W3CDTF">2013-01-27T09:14:16Z</dcterms:created>
  <dcterms:modified xsi:type="dcterms:W3CDTF">2026-10-29T11:39:44Z</dcterms:modified>
  <cp:category/>
</cp:coreProperties>
</file>